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66" r:id="rId5"/>
    <p:sldId id="258" r:id="rId6"/>
    <p:sldId id="259" r:id="rId7"/>
    <p:sldId id="260" r:id="rId8"/>
    <p:sldId id="267" r:id="rId9"/>
    <p:sldId id="261" r:id="rId10"/>
    <p:sldId id="262" r:id="rId11"/>
    <p:sldId id="263" r:id="rId12"/>
    <p:sldId id="264" r:id="rId13"/>
    <p:sldId id="265"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22"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259"/>
    <a:srgbClr val="E3499E"/>
    <a:srgbClr val="F8DDF5"/>
    <a:srgbClr val="6B50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87" d="100"/>
          <a:sy n="87" d="100"/>
        </p:scale>
        <p:origin x="222" y="66"/>
      </p:cViewPr>
      <p:guideLst>
        <p:guide orient="horz" pos="2122"/>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1" name="Google Shape;10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g3ce0caf148c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2" name="Google Shape;112;g3ce0caf148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2"/>
        <p:cNvGrpSpPr/>
        <p:nvPr/>
      </p:nvGrpSpPr>
      <p:grpSpPr>
        <a:xfrm>
          <a:off x="0" y="0"/>
          <a:ext cx="0" cy="0"/>
          <a:chOff x="0" y="0"/>
          <a:chExt cx="0" cy="0"/>
        </a:xfrm>
      </p:grpSpPr>
      <p:sp>
        <p:nvSpPr>
          <p:cNvPr id="123" name="Google Shape;123;g3ce0caf148c_0_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4" name="Google Shape;124;g3ce0caf148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3"/>
        <p:cNvGrpSpPr/>
        <p:nvPr/>
      </p:nvGrpSpPr>
      <p:grpSpPr>
        <a:xfrm>
          <a:off x="0" y="0"/>
          <a:ext cx="0" cy="0"/>
          <a:chOff x="0" y="0"/>
          <a:chExt cx="0" cy="0"/>
        </a:xfrm>
      </p:grpSpPr>
      <p:sp>
        <p:nvSpPr>
          <p:cNvPr id="134" name="Google Shape;134;g3ce0caf148c_0_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5" name="Google Shape;135;g3ce0caf148c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g3ce0caf148c_0_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6" name="Google Shape;146;g3ce0caf148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5"/>
        <p:cNvGrpSpPr/>
        <p:nvPr/>
      </p:nvGrpSpPr>
      <p:grpSpPr>
        <a:xfrm>
          <a:off x="0" y="0"/>
          <a:ext cx="0" cy="0"/>
          <a:chOff x="0" y="0"/>
          <a:chExt cx="0" cy="0"/>
        </a:xfrm>
      </p:grpSpPr>
      <p:sp>
        <p:nvSpPr>
          <p:cNvPr id="156" name="Google Shape;156;g3ce0caf148c_0_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7" name="Google Shape;157;g3ce0caf148c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6"/>
        <p:cNvGrpSpPr/>
        <p:nvPr/>
      </p:nvGrpSpPr>
      <p:grpSpPr>
        <a:xfrm>
          <a:off x="0" y="0"/>
          <a:ext cx="0" cy="0"/>
          <a:chOff x="0" y="0"/>
          <a:chExt cx="0" cy="0"/>
        </a:xfrm>
      </p:grpSpPr>
      <p:sp>
        <p:nvSpPr>
          <p:cNvPr id="167" name="Google Shape;167;g3ce0caf148c_0_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8" name="Google Shape;168;g3ce0caf148c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7"/>
        <p:cNvGrpSpPr/>
        <p:nvPr/>
      </p:nvGrpSpPr>
      <p:grpSpPr>
        <a:xfrm>
          <a:off x="0" y="0"/>
          <a:ext cx="0" cy="0"/>
          <a:chOff x="0" y="0"/>
          <a:chExt cx="0" cy="0"/>
        </a:xfrm>
      </p:grpSpPr>
      <p:sp>
        <p:nvSpPr>
          <p:cNvPr id="178" name="Google Shape;178;g3ce0caf148c_0_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9" name="Google Shape;179;g3ce0caf148c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p>
        </p:txBody>
      </p:sp>
      <p:sp>
        <p:nvSpPr>
          <p:cNvPr id="191" name="Google Shape;191;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5"/>
        <p:cNvGrpSpPr/>
        <p:nvPr/>
      </p:nvGrpSpPr>
      <p:grpSpPr>
        <a:xfrm>
          <a:off x="0" y="0"/>
          <a:ext cx="0" cy="0"/>
          <a:chOff x="0" y="0"/>
          <a:chExt cx="0" cy="0"/>
        </a:xfrm>
      </p:grpSpPr>
      <p:sp>
        <p:nvSpPr>
          <p:cNvPr id="16" name="Google Shape;16;p1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1"/>
        <p:cNvGrpSpPr/>
        <p:nvPr/>
      </p:nvGrpSpPr>
      <p:grpSpPr>
        <a:xfrm>
          <a:off x="0" y="0"/>
          <a:ext cx="0" cy="0"/>
          <a:chOff x="0" y="0"/>
          <a:chExt cx="0" cy="0"/>
        </a:xfrm>
      </p:grpSpPr>
      <p:sp>
        <p:nvSpPr>
          <p:cNvPr id="22" name="Google Shape;22;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4" name="Google Shape;24;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7"/>
        <p:cNvGrpSpPr/>
        <p:nvPr/>
      </p:nvGrpSpPr>
      <p:grpSpPr>
        <a:xfrm>
          <a:off x="0" y="0"/>
          <a:ext cx="0" cy="0"/>
          <a:chOff x="0" y="0"/>
          <a:chExt cx="0" cy="0"/>
        </a:xfrm>
      </p:grpSpPr>
      <p:sp>
        <p:nvSpPr>
          <p:cNvPr id="28" name="Google Shape;28;p1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3"/>
        <p:cNvGrpSpPr/>
        <p:nvPr/>
      </p:nvGrpSpPr>
      <p:grpSpPr>
        <a:xfrm>
          <a:off x="0" y="0"/>
          <a:ext cx="0" cy="0"/>
          <a:chOff x="0" y="0"/>
          <a:chExt cx="0" cy="0"/>
        </a:xfrm>
      </p:grpSpPr>
      <p:sp>
        <p:nvSpPr>
          <p:cNvPr id="34" name="Google Shape;34;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6" name="Google Shape;36;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7" name="Google Shape;37;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0"/>
        <p:cNvGrpSpPr/>
        <p:nvPr/>
      </p:nvGrpSpPr>
      <p:grpSpPr>
        <a:xfrm>
          <a:off x="0" y="0"/>
          <a:ext cx="0" cy="0"/>
          <a:chOff x="0" y="0"/>
          <a:chExt cx="0" cy="0"/>
        </a:xfrm>
      </p:grpSpPr>
      <p:sp>
        <p:nvSpPr>
          <p:cNvPr id="41" name="Google Shape;41;p1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3" name="Google Shape;43;p1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4" name="Google Shape;44;p1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5" name="Google Shape;45;p1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6" name="Google Shape;46;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9"/>
        <p:cNvGrpSpPr/>
        <p:nvPr/>
      </p:nvGrpSpPr>
      <p:grpSpPr>
        <a:xfrm>
          <a:off x="0" y="0"/>
          <a:ext cx="0" cy="0"/>
          <a:chOff x="0" y="0"/>
          <a:chExt cx="0" cy="0"/>
        </a:xfrm>
      </p:grpSpPr>
      <p:sp>
        <p:nvSpPr>
          <p:cNvPr id="50" name="Google Shape;5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4"/>
        <p:cNvGrpSpPr/>
        <p:nvPr/>
      </p:nvGrpSpPr>
      <p:grpSpPr>
        <a:xfrm>
          <a:off x="0" y="0"/>
          <a:ext cx="0" cy="0"/>
          <a:chOff x="0" y="0"/>
          <a:chExt cx="0" cy="0"/>
        </a:xfrm>
      </p:grpSpPr>
      <p:sp>
        <p:nvSpPr>
          <p:cNvPr id="55" name="Google Shape;55;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1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9"/>
          <p:cNvSpPr>
            <a:spLocks noGrp="1"/>
          </p:cNvSpPr>
          <p:nvPr>
            <p:ph type="pic" idx="2"/>
          </p:nvPr>
        </p:nvSpPr>
        <p:spPr>
          <a:xfrm>
            <a:off x="5183188" y="987425"/>
            <a:ext cx="6172200" cy="4873625"/>
          </a:xfrm>
          <a:prstGeom prst="rect">
            <a:avLst/>
          </a:prstGeom>
          <a:noFill/>
          <a:ln>
            <a:noFill/>
          </a:ln>
        </p:spPr>
      </p:sp>
      <p:sp>
        <p:nvSpPr>
          <p:cNvPr id="68" name="Google Shape;68;p1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2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11039" y="2204864"/>
            <a:ext cx="12192000" cy="1618882"/>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400"/>
              <a:buFont typeface="Times New Roman" panose="02020603050405020304"/>
              <a:buNone/>
            </a:pPr>
            <a:r>
              <a:rPr lang="en-US" sz="4400" b="1" dirty="0">
                <a:latin typeface="Times New Roman" panose="02020603050405020304"/>
                <a:ea typeface="Times New Roman" panose="02020603050405020304"/>
                <a:cs typeface="Times New Roman" panose="02020603050405020304"/>
                <a:sym typeface="Times New Roman" panose="02020603050405020304"/>
              </a:rPr>
              <a:t>Title</a:t>
            </a:r>
            <a:endParaRPr sz="4400" dirty="0"/>
          </a:p>
        </p:txBody>
      </p:sp>
      <p:sp>
        <p:nvSpPr>
          <p:cNvPr id="90" name="Google Shape;90;p1"/>
          <p:cNvSpPr txBox="1">
            <a:spLocks noGrp="1"/>
          </p:cNvSpPr>
          <p:nvPr>
            <p:ph type="subTitle" idx="1"/>
          </p:nvPr>
        </p:nvSpPr>
        <p:spPr>
          <a:xfrm>
            <a:off x="35275" y="5059750"/>
            <a:ext cx="5710200" cy="16617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2000"/>
              <a:buNone/>
            </a:pPr>
            <a:r>
              <a:rPr lang="en-US" sz="2000" b="1" dirty="0">
                <a:latin typeface="Times New Roman" panose="02020603050405020304"/>
                <a:ea typeface="Times New Roman" panose="02020603050405020304"/>
                <a:cs typeface="Times New Roman" panose="02020603050405020304"/>
                <a:sym typeface="Times New Roman" panose="02020603050405020304"/>
              </a:rPr>
              <a:t>SUBMITTED BY:                                </a:t>
            </a:r>
            <a:endParaRPr dirty="0"/>
          </a:p>
          <a:p>
            <a:pPr marL="0" lvl="0" indent="0" algn="ctr" rtl="0">
              <a:lnSpc>
                <a:spcPct val="100000"/>
              </a:lnSpc>
              <a:spcBef>
                <a:spcPts val="0"/>
              </a:spcBef>
              <a:spcAft>
                <a:spcPts val="0"/>
              </a:spcAft>
              <a:buClr>
                <a:schemeClr val="dk1"/>
              </a:buClr>
              <a:buSzPts val="2000"/>
              <a:buNone/>
            </a:pPr>
            <a:r>
              <a:rPr lang="en-US" sz="2000" b="1" dirty="0" err="1">
                <a:latin typeface="Times New Roman" panose="02020603050405020304"/>
                <a:ea typeface="Times New Roman" panose="02020603050405020304"/>
                <a:cs typeface="Times New Roman" panose="02020603050405020304"/>
                <a:sym typeface="Times New Roman" panose="02020603050405020304"/>
              </a:rPr>
              <a:t>Reg</a:t>
            </a:r>
            <a:r>
              <a:rPr lang="en-US" sz="2000" b="1" dirty="0">
                <a:latin typeface="Times New Roman" panose="02020603050405020304"/>
                <a:ea typeface="Times New Roman" panose="02020603050405020304"/>
                <a:cs typeface="Times New Roman" panose="02020603050405020304"/>
                <a:sym typeface="Times New Roman" panose="02020603050405020304"/>
              </a:rPr>
              <a:t> No. (Name) Degree Should not be mentioned</a:t>
            </a:r>
            <a:endParaRPr dirty="0"/>
          </a:p>
          <a:p>
            <a:pPr marL="0" lvl="0" indent="0" algn="ctr" rtl="0">
              <a:lnSpc>
                <a:spcPct val="100000"/>
              </a:lnSpc>
              <a:spcBef>
                <a:spcPts val="0"/>
              </a:spcBef>
              <a:spcAft>
                <a:spcPts val="0"/>
              </a:spcAft>
              <a:buClr>
                <a:schemeClr val="dk1"/>
              </a:buClr>
              <a:buSzPts val="2000"/>
              <a:buNone/>
            </a:pPr>
            <a:r>
              <a:rPr lang="en-US" sz="2000" b="1" dirty="0" smtClean="0">
                <a:latin typeface="Times New Roman" panose="02020603050405020304"/>
                <a:ea typeface="Times New Roman" panose="02020603050405020304"/>
                <a:cs typeface="Times New Roman" panose="02020603050405020304"/>
                <a:sym typeface="Times New Roman" panose="02020603050405020304"/>
              </a:rPr>
              <a:t>III </a:t>
            </a:r>
            <a:r>
              <a:rPr lang="en-US" sz="2000" b="1" dirty="0" err="1" smtClean="0">
                <a:latin typeface="Times New Roman" panose="02020603050405020304"/>
                <a:ea typeface="Times New Roman" panose="02020603050405020304"/>
                <a:cs typeface="Times New Roman" panose="02020603050405020304"/>
                <a:sym typeface="Times New Roman" panose="02020603050405020304"/>
              </a:rPr>
              <a:t>B.Sc</a:t>
            </a:r>
            <a:r>
              <a:rPr lang="en-US" sz="2000" b="1" dirty="0">
                <a:latin typeface="Times New Roman" panose="02020603050405020304"/>
                <a:ea typeface="Times New Roman" panose="02020603050405020304"/>
                <a:cs typeface="Times New Roman" panose="02020603050405020304"/>
                <a:sym typeface="Times New Roman" panose="02020603050405020304"/>
              </a:rPr>
              <a:t>, Computer Science</a:t>
            </a:r>
            <a:r>
              <a:rPr lang="en-US" sz="2000" b="1" dirty="0" smtClean="0">
                <a:latin typeface="Times New Roman" panose="02020603050405020304"/>
                <a:ea typeface="Times New Roman" panose="02020603050405020304"/>
                <a:cs typeface="Times New Roman" panose="02020603050405020304"/>
                <a:sym typeface="Times New Roman" panose="02020603050405020304"/>
              </a:rPr>
              <a:t>, A Section </a:t>
            </a:r>
            <a:endParaRPr dirty="0"/>
          </a:p>
          <a:p>
            <a:pPr marL="0" lvl="0" indent="0" algn="ctr" rtl="0">
              <a:lnSpc>
                <a:spcPct val="100000"/>
              </a:lnSpc>
              <a:spcBef>
                <a:spcPts val="0"/>
              </a:spcBef>
              <a:spcAft>
                <a:spcPts val="0"/>
              </a:spcAft>
              <a:buClr>
                <a:schemeClr val="dk1"/>
              </a:buClr>
              <a:buSzPts val="2000"/>
              <a:buNone/>
            </a:pPr>
            <a:r>
              <a:rPr lang="en-US" sz="2000" b="1" dirty="0" err="1">
                <a:latin typeface="Times New Roman" panose="02020603050405020304"/>
                <a:ea typeface="Times New Roman" panose="02020603050405020304"/>
                <a:cs typeface="Times New Roman" panose="02020603050405020304"/>
                <a:sym typeface="Times New Roman" panose="02020603050405020304"/>
              </a:rPr>
              <a:t>Thiagarajar</a:t>
            </a:r>
            <a:r>
              <a:rPr lang="en-US" sz="2000" b="1" dirty="0">
                <a:latin typeface="Times New Roman" panose="02020603050405020304"/>
                <a:ea typeface="Times New Roman" panose="02020603050405020304"/>
                <a:cs typeface="Times New Roman" panose="02020603050405020304"/>
                <a:sym typeface="Times New Roman" panose="02020603050405020304"/>
              </a:rPr>
              <a:t> College, Madurai</a:t>
            </a:r>
            <a:endParaRPr dirty="0"/>
          </a:p>
          <a:p>
            <a:pPr marL="0" lvl="0" indent="0" algn="ctr" rtl="0">
              <a:lnSpc>
                <a:spcPct val="90000"/>
              </a:lnSpc>
              <a:spcBef>
                <a:spcPts val="1000"/>
              </a:spcBef>
              <a:spcAft>
                <a:spcPts val="0"/>
              </a:spcAft>
              <a:buClr>
                <a:schemeClr val="dk1"/>
              </a:buClr>
              <a:buSzPts val="2400"/>
              <a:buNone/>
            </a:pPr>
            <a:endParaRPr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91" name="Google Shape;91;p1"/>
          <p:cNvSpPr txBox="1"/>
          <p:nvPr/>
        </p:nvSpPr>
        <p:spPr>
          <a:xfrm>
            <a:off x="7104112" y="5075836"/>
            <a:ext cx="5307600" cy="1323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GUIDED BY:</a:t>
            </a:r>
            <a:endParaRPr dirty="0"/>
          </a:p>
          <a:p>
            <a:pPr marL="0" marR="0" lvl="0" indent="0" algn="ctr" rtl="0">
              <a:spcBef>
                <a:spcPts val="0"/>
              </a:spcBef>
              <a:spcAft>
                <a:spcPts val="0"/>
              </a:spcAft>
              <a:buNone/>
            </a:pPr>
            <a:r>
              <a:rPr lang="en-US" sz="2000" b="1"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Mr. G. D. </a:t>
            </a:r>
            <a:r>
              <a:rPr lang="en-US" sz="2000" b="1" dirty="0" err="1"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Kesavan</a:t>
            </a:r>
            <a:r>
              <a:rPr lang="en-US" sz="2000" b="1"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 M.E., M.B.A.</a:t>
            </a:r>
            <a:endParaRPr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r>
              <a:rPr lang="en-US"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Assistant Professor, Computer Science,</a:t>
            </a:r>
            <a:endParaRPr dirty="0"/>
          </a:p>
          <a:p>
            <a:pPr marL="0" marR="0" lvl="0" indent="0" algn="ctr" rtl="0">
              <a:spcBef>
                <a:spcPts val="0"/>
              </a:spcBef>
              <a:spcAft>
                <a:spcPts val="0"/>
              </a:spcAft>
              <a:buNone/>
            </a:pPr>
            <a:r>
              <a:rPr lang="en-US" sz="2000" b="1" i="0" u="none" strike="noStrike" cap="none"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Thiagarajar</a:t>
            </a:r>
            <a:r>
              <a:rPr lang="en-US"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College, Madurai</a:t>
            </a:r>
            <a:endParaRPr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2" name="Google Shape;92;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3" name="Google Shape;93;p1"/>
          <p:cNvSpPr txBox="1">
            <a:spLocks noGrp="1"/>
          </p:cNvSpPr>
          <p:nvPr>
            <p:ph type="ftr" idx="11"/>
          </p:nvPr>
        </p:nvSpPr>
        <p:spPr>
          <a:xfrm>
            <a:off x="3863752" y="6356350"/>
            <a:ext cx="5184576" cy="365125"/>
          </a:xfrm>
          <a:prstGeom prst="rect">
            <a:avLst/>
          </a:prstGeom>
          <a:noFill/>
          <a:ln>
            <a:noFill/>
          </a:ln>
        </p:spPr>
        <p:txBody>
          <a:bodyPr spcFirstLastPara="1" wrap="square" lIns="91425" tIns="45700" rIns="91425" bIns="45700" anchor="ctr" anchorCtr="0">
            <a:noAutofit/>
          </a:bodyPr>
          <a:lstStyle/>
          <a:p>
            <a:pPr lvl="0"/>
            <a:r>
              <a:rPr lang="en-US" dirty="0"/>
              <a:t>UCS24PJ51 </a:t>
            </a:r>
            <a:r>
              <a:rPr lang="en-US" dirty="0"/>
              <a:t>Project - </a:t>
            </a:r>
            <a:r>
              <a:rPr lang="en-US" dirty="0" smtClean="0"/>
              <a:t>First</a:t>
            </a:r>
            <a:r>
              <a:rPr lang="en-US" dirty="0" smtClean="0"/>
              <a:t> </a:t>
            </a:r>
            <a:r>
              <a:rPr lang="en-US" dirty="0"/>
              <a:t>Review Presentation </a:t>
            </a:r>
            <a:r>
              <a:rPr lang="en-US" dirty="0" smtClean="0"/>
              <a:t>2026- 2027</a:t>
            </a:r>
            <a:endParaRPr dirty="0"/>
          </a:p>
        </p:txBody>
      </p:sp>
      <p:sp>
        <p:nvSpPr>
          <p:cNvPr id="94" name="Google Shape;94;p1"/>
          <p:cNvSpPr/>
          <p:nvPr/>
        </p:nvSpPr>
        <p:spPr>
          <a:xfrm>
            <a:off x="0" y="0"/>
            <a:ext cx="12192000" cy="457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95" name="Google Shape;95;p1" descr="Thiagarajar College (@ThiagarajarArts) | Twitter"/>
          <p:cNvPicPr preferRelativeResize="0"/>
          <p:nvPr/>
        </p:nvPicPr>
        <p:blipFill rotWithShape="1">
          <a:blip r:embed="rId1"/>
          <a:srcRect/>
          <a:stretch>
            <a:fillRect/>
          </a:stretch>
        </p:blipFill>
        <p:spPr>
          <a:xfrm>
            <a:off x="5745485" y="0"/>
            <a:ext cx="720080" cy="751292"/>
          </a:xfrm>
          <a:prstGeom prst="rect">
            <a:avLst/>
          </a:prstGeom>
          <a:noFill/>
          <a:ln>
            <a:noFill/>
          </a:ln>
        </p:spPr>
      </p:pic>
      <p:sp>
        <p:nvSpPr>
          <p:cNvPr id="96" name="Google Shape;96;p1"/>
          <p:cNvSpPr/>
          <p:nvPr/>
        </p:nvSpPr>
        <p:spPr>
          <a:xfrm>
            <a:off x="2633092" y="1008358"/>
            <a:ext cx="6781800" cy="830956"/>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THIAGARAJAR COLLEGE, MADURAI </a:t>
            </a:r>
            <a:endParaRPr sz="24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Department of Computer Science - </a:t>
            </a:r>
            <a:r>
              <a:rPr lang="en-US" sz="2400" b="1" i="0" u="none" strike="noStrike" cap="none" dirty="0" err="1"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B.Sc</a:t>
            </a:r>
            <a:r>
              <a:rPr lang="en-US" sz="2400" b="1" i="0" u="none" strike="noStrike" cap="none"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 A Section</a:t>
            </a:r>
            <a:endParaRPr sz="24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7" name="Google Shape;97;p1"/>
          <p:cNvSpPr/>
          <p:nvPr/>
        </p:nvSpPr>
        <p:spPr>
          <a:xfrm>
            <a:off x="2063552" y="1842369"/>
            <a:ext cx="7920880" cy="461665"/>
          </a:xfrm>
          <a:prstGeom prst="rect">
            <a:avLst/>
          </a:prstGeom>
          <a:noFill/>
          <a:ln>
            <a:noFill/>
          </a:ln>
        </p:spPr>
        <p:txBody>
          <a:bodyPr spcFirstLastPara="1" wrap="square" lIns="91425" tIns="45700" rIns="91425" bIns="45700" anchor="t" anchorCtr="0">
            <a:spAutoFit/>
          </a:bodyPr>
          <a:lstStyle/>
          <a:p>
            <a:pPr lvl="0" algn="ctr"/>
            <a:r>
              <a:rPr lang="en-US"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UCS24PJ51 </a:t>
            </a:r>
            <a:r>
              <a:rPr lang="en-US"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Project – </a:t>
            </a:r>
            <a:r>
              <a:rPr lang="en-US" sz="2400" b="1"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First </a:t>
            </a:r>
            <a:r>
              <a:rPr lang="en-US"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Review</a:t>
            </a:r>
            <a:endParaRPr sz="24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8" name="Google Shape;9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smtClean="0"/>
              <a:t>22/07/2026</a:t>
            </a:r>
            <a:endParaRPr dirty="0"/>
          </a:p>
        </p:txBody>
      </p:sp>
      <p:sp>
        <p:nvSpPr>
          <p:cNvPr id="2" name="Rectangle 1"/>
          <p:cNvSpPr/>
          <p:nvPr/>
        </p:nvSpPr>
        <p:spPr>
          <a:xfrm>
            <a:off x="5978820" y="3275112"/>
            <a:ext cx="234360" cy="307777"/>
          </a:xfrm>
          <a:prstGeom prst="rect">
            <a:avLst/>
          </a:prstGeom>
        </p:spPr>
        <p:txBody>
          <a:bodyPr wrap="none">
            <a:spAutoFit/>
          </a:bodyPr>
          <a:lstStyle/>
          <a:p>
            <a:r>
              <a:rPr lang="en-US" dirty="0"/>
              <a:t>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838200" y="365125"/>
            <a:ext cx="10515600" cy="9921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OVERVIEW</a:t>
            </a:r>
            <a:endParaRPr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104" name="Google Shape;104;p2"/>
          <p:cNvSpPr txBox="1">
            <a:spLocks noGrp="1"/>
          </p:cNvSpPr>
          <p:nvPr>
            <p:ph type="body" idx="1"/>
          </p:nvPr>
        </p:nvSpPr>
        <p:spPr>
          <a:xfrm>
            <a:off x="838200" y="1357298"/>
            <a:ext cx="10515600" cy="5143536"/>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200"/>
              <a:buFont typeface="Noto Sans Symbols"/>
              <a:buChar char="❖"/>
            </a:pPr>
            <a:r>
              <a:rPr lang="en-US" sz="2400" b="1" dirty="0">
                <a:latin typeface="Times New Roman" panose="02020603050405020304"/>
                <a:ea typeface="Times New Roman" panose="02020603050405020304"/>
                <a:cs typeface="Times New Roman" panose="02020603050405020304"/>
                <a:sym typeface="Times New Roman" panose="02020603050405020304"/>
              </a:rPr>
              <a:t>Abstract</a:t>
            </a:r>
            <a:endParaRPr sz="2400" dirty="0"/>
          </a:p>
          <a:p>
            <a:pPr marL="228600" lvl="0" indent="-228600" algn="l" rtl="0">
              <a:lnSpc>
                <a:spcPct val="90000"/>
              </a:lnSpc>
              <a:spcBef>
                <a:spcPts val="1000"/>
              </a:spcBef>
              <a:spcAft>
                <a:spcPts val="0"/>
              </a:spcAft>
              <a:buClr>
                <a:schemeClr val="dk1"/>
              </a:buClr>
              <a:buSzPts val="2200"/>
              <a:buFont typeface="Noto Sans Symbols"/>
              <a:buChar char="❖"/>
            </a:pPr>
            <a:r>
              <a:rPr lang="en-US" sz="2400" b="1" dirty="0">
                <a:latin typeface="Times New Roman" panose="02020603050405020304"/>
                <a:ea typeface="Times New Roman" panose="02020603050405020304"/>
                <a:cs typeface="Times New Roman" panose="02020603050405020304"/>
                <a:sym typeface="Times New Roman" panose="02020603050405020304"/>
              </a:rPr>
              <a:t>Existing system </a:t>
            </a:r>
            <a:endParaRPr sz="2400" dirty="0"/>
          </a:p>
          <a:p>
            <a:pPr marL="228600" lvl="0" indent="-228600" algn="l" rtl="0">
              <a:lnSpc>
                <a:spcPct val="90000"/>
              </a:lnSpc>
              <a:spcBef>
                <a:spcPts val="1000"/>
              </a:spcBef>
              <a:spcAft>
                <a:spcPts val="0"/>
              </a:spcAft>
              <a:buClr>
                <a:schemeClr val="dk1"/>
              </a:buClr>
              <a:buSzPts val="2200"/>
              <a:buFont typeface="Noto Sans Symbols"/>
              <a:buChar char="❖"/>
            </a:pPr>
            <a:r>
              <a:rPr lang="en-US" sz="2400" b="1" dirty="0">
                <a:latin typeface="Times New Roman" panose="02020603050405020304"/>
                <a:ea typeface="Times New Roman" panose="02020603050405020304"/>
                <a:cs typeface="Times New Roman" panose="02020603050405020304"/>
                <a:sym typeface="Times New Roman" panose="02020603050405020304"/>
              </a:rPr>
              <a:t>Proposed system</a:t>
            </a:r>
            <a:endParaRPr sz="2400" b="1" dirty="0">
              <a:latin typeface="Times New Roman" panose="02020603050405020304"/>
              <a:ea typeface="Times New Roman" panose="02020603050405020304"/>
              <a:cs typeface="Times New Roman" panose="02020603050405020304"/>
              <a:sym typeface="Times New Roman" panose="02020603050405020304"/>
            </a:endParaRPr>
          </a:p>
          <a:p>
            <a:pPr marL="228600" lvl="0" indent="-254000" algn="l" rtl="0">
              <a:spcBef>
                <a:spcPts val="1000"/>
              </a:spcBef>
              <a:spcAft>
                <a:spcPts val="0"/>
              </a:spcAft>
              <a:buSzPts val="2200"/>
              <a:buFont typeface="Times New Roman" panose="02020603050405020304"/>
              <a:buChar char="❖"/>
            </a:pPr>
            <a:r>
              <a:rPr lang="en-US" sz="2400" b="1" dirty="0">
                <a:latin typeface="Times New Roman" panose="02020603050405020304"/>
                <a:ea typeface="Times New Roman" panose="02020603050405020304"/>
                <a:cs typeface="Times New Roman" panose="02020603050405020304"/>
                <a:sym typeface="Times New Roman" panose="02020603050405020304"/>
              </a:rPr>
              <a:t>Proposed system Architecture</a:t>
            </a:r>
            <a:endParaRPr sz="2400" b="1" dirty="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1000"/>
              </a:spcBef>
              <a:spcAft>
                <a:spcPts val="0"/>
              </a:spcAft>
              <a:buClr>
                <a:schemeClr val="dk1"/>
              </a:buClr>
              <a:buSzPts val="2200"/>
              <a:buFont typeface="Noto Sans Symbols"/>
              <a:buChar char="❖"/>
            </a:pPr>
            <a:r>
              <a:rPr lang="en-US" sz="2400" b="1" dirty="0">
                <a:latin typeface="Times New Roman" panose="02020603050405020304"/>
                <a:ea typeface="Times New Roman" panose="02020603050405020304"/>
                <a:cs typeface="Times New Roman" panose="02020603050405020304"/>
                <a:sym typeface="Times New Roman" panose="02020603050405020304"/>
              </a:rPr>
              <a:t>List of Modules</a:t>
            </a:r>
            <a:endParaRPr sz="2400" b="1" dirty="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1000"/>
              </a:spcBef>
              <a:spcAft>
                <a:spcPts val="0"/>
              </a:spcAft>
              <a:buClr>
                <a:schemeClr val="dk1"/>
              </a:buClr>
              <a:buSzPts val="2200"/>
              <a:buFont typeface="Noto Sans Symbols"/>
              <a:buChar char="❖"/>
            </a:pPr>
            <a:r>
              <a:rPr lang="en-US" sz="2400" b="1" dirty="0">
                <a:latin typeface="Times New Roman" panose="02020603050405020304"/>
                <a:ea typeface="Times New Roman" panose="02020603050405020304"/>
                <a:cs typeface="Times New Roman" panose="02020603050405020304"/>
                <a:sym typeface="Times New Roman" panose="02020603050405020304"/>
              </a:rPr>
              <a:t>Result Comparison / Analysis</a:t>
            </a:r>
            <a:endParaRPr sz="2400" b="1" dirty="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1000"/>
              </a:spcBef>
              <a:spcAft>
                <a:spcPts val="0"/>
              </a:spcAft>
              <a:buClr>
                <a:schemeClr val="dk1"/>
              </a:buClr>
              <a:buSzPts val="2200"/>
              <a:buFont typeface="Noto Sans Symbols"/>
              <a:buChar char="❖"/>
            </a:pPr>
            <a:r>
              <a:rPr lang="en-US" sz="2400" b="1" dirty="0">
                <a:latin typeface="Times New Roman" panose="02020603050405020304"/>
                <a:ea typeface="Times New Roman" panose="02020603050405020304"/>
                <a:cs typeface="Times New Roman" panose="02020603050405020304"/>
                <a:sym typeface="Times New Roman" panose="02020603050405020304"/>
              </a:rPr>
              <a:t>Conclusion </a:t>
            </a:r>
            <a:endParaRPr sz="2400" dirty="0"/>
          </a:p>
          <a:p>
            <a:pPr marL="0" lvl="0" indent="0" algn="l" rtl="0">
              <a:lnSpc>
                <a:spcPct val="90000"/>
              </a:lnSpc>
              <a:spcBef>
                <a:spcPts val="1000"/>
              </a:spcBef>
              <a:spcAft>
                <a:spcPts val="0"/>
              </a:spcAft>
              <a:buClr>
                <a:schemeClr val="dk1"/>
              </a:buClr>
              <a:buSzPts val="2200"/>
              <a:buNone/>
            </a:pPr>
            <a:endParaRPr sz="2400" b="1" dirty="0"/>
          </a:p>
        </p:txBody>
      </p:sp>
      <p:sp>
        <p:nvSpPr>
          <p:cNvPr id="105" name="Google Shape;105;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07" name="Google Shape;107;p2" descr="Thiagarajar College (@ThiagarajarArts) | Twitter"/>
          <p:cNvPicPr preferRelativeResize="0"/>
          <p:nvPr/>
        </p:nvPicPr>
        <p:blipFill rotWithShape="1">
          <a:blip r:embed="rId1"/>
          <a:srcRect/>
          <a:stretch>
            <a:fillRect/>
          </a:stretch>
        </p:blipFill>
        <p:spPr>
          <a:xfrm>
            <a:off x="5807968" y="0"/>
            <a:ext cx="494531" cy="515967"/>
          </a:xfrm>
          <a:prstGeom prst="rect">
            <a:avLst/>
          </a:prstGeom>
          <a:noFill/>
          <a:ln>
            <a:noFill/>
          </a:ln>
        </p:spPr>
      </p:pic>
      <p:sp>
        <p:nvSpPr>
          <p:cNvPr id="108" name="Google Shape;108;p2"/>
          <p:cNvSpPr txBox="1">
            <a:spLocks noGrp="1"/>
          </p:cNvSpPr>
          <p:nvPr>
            <p:ph type="ftr" idx="11"/>
          </p:nvPr>
        </p:nvSpPr>
        <p:spPr>
          <a:xfrm>
            <a:off x="3863752" y="6356350"/>
            <a:ext cx="5184600" cy="365100"/>
          </a:xfrm>
          <a:prstGeom prst="rect">
            <a:avLst/>
          </a:prstGeom>
          <a:noFill/>
          <a:ln>
            <a:noFill/>
          </a:ln>
        </p:spPr>
        <p:txBody>
          <a:bodyPr spcFirstLastPara="1" wrap="square" lIns="91425" tIns="45700" rIns="91425" bIns="45700" anchor="ctr" anchorCtr="0">
            <a:noAutofit/>
          </a:bodyPr>
          <a:lstStyle/>
          <a:p>
            <a:pPr lvl="0"/>
            <a:r>
              <a:rPr lang="en-US" dirty="0"/>
              <a:t>UCS24PJ51 Project - First Review Presentation 2026- 2027</a:t>
            </a:r>
            <a:endParaRPr lang="en-US" dirty="0"/>
          </a:p>
        </p:txBody>
      </p:sp>
      <p:sp>
        <p:nvSpPr>
          <p:cNvPr id="109" name="Google Shape;109;p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lvl="0"/>
            <a:r>
              <a:rPr lang="en-US" dirty="0"/>
              <a:t>22/07/2026</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3ce0caf148c_0_0"/>
          <p:cNvSpPr txBox="1">
            <a:spLocks noGrp="1"/>
          </p:cNvSpPr>
          <p:nvPr>
            <p:ph type="body" idx="1"/>
          </p:nvPr>
        </p:nvSpPr>
        <p:spPr>
          <a:xfrm>
            <a:off x="797438" y="1518436"/>
            <a:ext cx="10515600" cy="4676700"/>
          </a:xfrm>
          <a:prstGeom prst="rect">
            <a:avLst/>
          </a:prstGeom>
          <a:noFill/>
          <a:ln>
            <a:noFill/>
          </a:ln>
        </p:spPr>
        <p:txBody>
          <a:bodyPr spcFirstLastPara="1" wrap="square" lIns="91425" tIns="45700" rIns="91425" bIns="45700" anchor="t" anchorCtr="0">
            <a:normAutofit fontScale="25000"/>
          </a:bodyPr>
          <a:lstStyle/>
          <a:p>
            <a:pPr marL="0" lvl="0" indent="0" algn="just" rtl="0">
              <a:lnSpc>
                <a:spcPct val="150000"/>
              </a:lnSpc>
              <a:spcBef>
                <a:spcPts val="1000"/>
              </a:spcBef>
              <a:spcAft>
                <a:spcPts val="0"/>
              </a:spcAft>
              <a:buNone/>
            </a:pPr>
            <a:r>
              <a:rPr lang="en-US" altLang="en-US" sz="8000" b="1">
                <a:latin typeface="Times New Roman" panose="02020603050405020304"/>
                <a:ea typeface="Times New Roman" panose="02020603050405020304"/>
                <a:cs typeface="Times New Roman" panose="02020603050405020304"/>
                <a:sym typeface="Times New Roman" panose="02020603050405020304"/>
              </a:rPr>
              <a:t> </a:t>
            </a:r>
            <a:r>
              <a:rPr lang="en-IN" altLang="en-US" sz="8000" b="1">
                <a:latin typeface="Times New Roman" panose="02020603050405020304"/>
                <a:ea typeface="Times New Roman" panose="02020603050405020304"/>
                <a:cs typeface="Times New Roman" panose="02020603050405020304"/>
                <a:sym typeface="Times New Roman" panose="02020603050405020304"/>
              </a:rPr>
              <a:t>        </a:t>
            </a:r>
            <a:r>
              <a:rPr lang="en-US" altLang="en-US" sz="8000" b="1">
                <a:latin typeface="Times New Roman" panose="02020603050405020304"/>
                <a:ea typeface="Times New Roman" panose="02020603050405020304"/>
                <a:cs typeface="Times New Roman" panose="02020603050405020304"/>
                <a:sym typeface="Times New Roman" panose="02020603050405020304"/>
              </a:rPr>
              <a:t>Purchasing books from traditional bookstores is often difficult and time-consuming. Customers may find that the required book is out of stock, the correct edition is unavailable, or the price is too high. They may also need to visit multiple stores or wait for new stock, causing unnecessary delay and inconvenience. To solve these problems, BOOKZEN is developed as a platform for buying and selling second-hand books. Sellers can register, upload book details with images, and set their own prices. Buyers can search for books by title, author, or category, compare available options, and contact sellers directly to discuss and negotiate prices. The main objective of BOOKZEN is to reduce the time and effort required to buy or sell books, provide affordable learning resources, encourage the reuse of books, reduce waste, and create a reliable community marketplace for sharing educational resources.</a:t>
            </a:r>
            <a:endParaRPr lang="en-US" altLang="en-US" sz="80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1000"/>
              </a:spcBef>
              <a:spcAft>
                <a:spcPts val="0"/>
              </a:spcAft>
              <a:buNone/>
            </a:pPr>
            <a:endParaRPr lang="en-US" altLang="en-US" sz="72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1000"/>
              </a:spcBef>
              <a:spcAft>
                <a:spcPts val="0"/>
              </a:spcAft>
              <a:buNone/>
            </a:pPr>
            <a:endParaRPr sz="20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1000"/>
              </a:spcBef>
              <a:spcAft>
                <a:spcPts val="0"/>
              </a:spcAft>
              <a:buNone/>
            </a:pPr>
            <a:endParaRPr sz="20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1000"/>
              </a:spcBef>
              <a:spcAft>
                <a:spcPts val="0"/>
              </a:spcAft>
              <a:buNone/>
            </a:pPr>
            <a:endParaRPr sz="20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1000"/>
              </a:spcBef>
              <a:spcAft>
                <a:spcPts val="0"/>
              </a:spcAft>
              <a:buNone/>
            </a:pPr>
            <a:endParaRPr sz="20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1000"/>
              </a:spcBef>
              <a:spcAft>
                <a:spcPts val="0"/>
              </a:spcAft>
              <a:buNone/>
            </a:pPr>
            <a:endParaRPr sz="20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1000"/>
              </a:spcBef>
              <a:spcAft>
                <a:spcPts val="0"/>
              </a:spcAft>
              <a:buNone/>
            </a:pPr>
            <a:endParaRPr sz="20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1000"/>
              </a:spcBef>
              <a:spcAft>
                <a:spcPts val="0"/>
              </a:spcAft>
              <a:buNone/>
            </a:pPr>
            <a:r>
              <a:rPr lang="en-US" sz="2000" b="1">
                <a:latin typeface="Times New Roman" panose="02020603050405020304"/>
                <a:ea typeface="Times New Roman" panose="02020603050405020304"/>
                <a:cs typeface="Times New Roman" panose="02020603050405020304"/>
                <a:sym typeface="Times New Roman" panose="02020603050405020304"/>
              </a:rPr>
              <a:t>Keywords:</a:t>
            </a:r>
            <a:endParaRPr lang="en-US" sz="2000" b="1">
              <a:latin typeface="Times New Roman" panose="02020603050405020304"/>
              <a:ea typeface="Times New Roman" panose="02020603050405020304"/>
              <a:cs typeface="Times New Roman" panose="02020603050405020304"/>
              <a:sym typeface="Times New Roman" panose="02020603050405020304"/>
            </a:endParaRPr>
          </a:p>
        </p:txBody>
      </p:sp>
      <p:sp>
        <p:nvSpPr>
          <p:cNvPr id="115" name="Google Shape;115;g3ce0caf148c_0_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17" name="Google Shape;117;g3ce0caf148c_0_0"/>
          <p:cNvSpPr txBox="1">
            <a:spLocks noGrp="1"/>
          </p:cNvSpPr>
          <p:nvPr>
            <p:ph type="title"/>
          </p:nvPr>
        </p:nvSpPr>
        <p:spPr>
          <a:xfrm>
            <a:off x="838200" y="365125"/>
            <a:ext cx="10515600" cy="992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ABSTRACT</a:t>
            </a:r>
            <a:endParaRPr lang="en-US" b="1" u="sng">
              <a:latin typeface="Times New Roman" panose="02020603050405020304"/>
              <a:ea typeface="Times New Roman" panose="02020603050405020304"/>
              <a:cs typeface="Times New Roman" panose="02020603050405020304"/>
              <a:sym typeface="Times New Roman" panose="02020603050405020304"/>
            </a:endParaRPr>
          </a:p>
        </p:txBody>
      </p:sp>
      <p:pic>
        <p:nvPicPr>
          <p:cNvPr id="118" name="Google Shape;118;g3ce0caf148c_0_0" descr="Thiagarajar College (@ThiagarajarArts) | Twitter"/>
          <p:cNvPicPr preferRelativeResize="0"/>
          <p:nvPr/>
        </p:nvPicPr>
        <p:blipFill rotWithShape="1">
          <a:blip r:embed="rId1"/>
          <a:srcRect/>
          <a:stretch>
            <a:fillRect/>
          </a:stretch>
        </p:blipFill>
        <p:spPr>
          <a:xfrm>
            <a:off x="5807968" y="0"/>
            <a:ext cx="494531" cy="515967"/>
          </a:xfrm>
          <a:prstGeom prst="rect">
            <a:avLst/>
          </a:prstGeom>
          <a:noFill/>
          <a:ln>
            <a:noFill/>
          </a:ln>
        </p:spPr>
      </p:pic>
      <p:sp>
        <p:nvSpPr>
          <p:cNvPr id="119" name="Google Shape;119;g3ce0caf148c_0_0"/>
          <p:cNvSpPr/>
          <p:nvPr/>
        </p:nvSpPr>
        <p:spPr>
          <a:xfrm>
            <a:off x="335360" y="6534834"/>
            <a:ext cx="8568900" cy="369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 name="Google Shape;9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smtClean="0"/>
              <a:t>22/07/2026</a:t>
            </a:r>
            <a:endParaRPr dirty="0"/>
          </a:p>
        </p:txBody>
      </p:sp>
      <p:sp>
        <p:nvSpPr>
          <p:cNvPr id="12" name="Google Shape;93;p1"/>
          <p:cNvSpPr txBox="1">
            <a:spLocks noGrp="1"/>
          </p:cNvSpPr>
          <p:nvPr>
            <p:ph type="ftr" idx="11"/>
          </p:nvPr>
        </p:nvSpPr>
        <p:spPr>
          <a:xfrm>
            <a:off x="3863752" y="6356350"/>
            <a:ext cx="5184576" cy="365125"/>
          </a:xfrm>
          <a:prstGeom prst="rect">
            <a:avLst/>
          </a:prstGeom>
          <a:noFill/>
          <a:ln>
            <a:noFill/>
          </a:ln>
        </p:spPr>
        <p:txBody>
          <a:bodyPr spcFirstLastPara="1" wrap="square" lIns="91425" tIns="45700" rIns="91425" bIns="45700" anchor="ctr" anchorCtr="0">
            <a:noAutofit/>
          </a:bodyPr>
          <a:lstStyle/>
          <a:p>
            <a:pPr lvl="0"/>
            <a:r>
              <a:rPr lang="en-US" dirty="0"/>
              <a:t>UCS24PJ51 </a:t>
            </a:r>
            <a:r>
              <a:rPr lang="en-US" dirty="0"/>
              <a:t>Project - </a:t>
            </a:r>
            <a:r>
              <a:rPr lang="en-US" dirty="0" smtClean="0"/>
              <a:t>First</a:t>
            </a:r>
            <a:r>
              <a:rPr lang="en-US" dirty="0" smtClean="0"/>
              <a:t> </a:t>
            </a:r>
            <a:r>
              <a:rPr lang="en-US" dirty="0"/>
              <a:t>Review Presentation </a:t>
            </a:r>
            <a:r>
              <a:rPr lang="en-US" dirty="0" smtClean="0"/>
              <a:t>2026- 2027</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3ce0caf148c_0_8"/>
          <p:cNvSpPr txBox="1">
            <a:spLocks noGrp="1"/>
          </p:cNvSpPr>
          <p:nvPr>
            <p:ph type="body" idx="1"/>
          </p:nvPr>
        </p:nvSpPr>
        <p:spPr>
          <a:xfrm>
            <a:off x="838200" y="1679879"/>
            <a:ext cx="10515600" cy="46767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Books are mainly purchased from bookstores.</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Students also buy books from friends or seniors.</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Second-hand books are available only in limited places.</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Buyers need to visit many stores to find the required book.</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Finding the correct edition is sometimes difficult.</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Sellers have limited options to sell used books.</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Buying and selling is done manually.</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There is no single platform for second-hand books.</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The process takes more time and effort.</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p:txBody>
      </p:sp>
      <p:sp>
        <p:nvSpPr>
          <p:cNvPr id="127" name="Google Shape;127;g3ce0caf148c_0_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29" name="Google Shape;129;g3ce0caf148c_0_8"/>
          <p:cNvSpPr txBox="1">
            <a:spLocks noGrp="1"/>
          </p:cNvSpPr>
          <p:nvPr>
            <p:ph type="title"/>
          </p:nvPr>
        </p:nvSpPr>
        <p:spPr>
          <a:xfrm>
            <a:off x="838200" y="601980"/>
            <a:ext cx="10515600" cy="992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EXISTING SYSTEM </a:t>
            </a:r>
            <a:endParaRPr lang="en-US" b="1" u="sng">
              <a:latin typeface="Times New Roman" panose="02020603050405020304"/>
              <a:ea typeface="Times New Roman" panose="02020603050405020304"/>
              <a:cs typeface="Times New Roman" panose="02020603050405020304"/>
              <a:sym typeface="Times New Roman" panose="02020603050405020304"/>
            </a:endParaRPr>
          </a:p>
        </p:txBody>
      </p:sp>
      <p:pic>
        <p:nvPicPr>
          <p:cNvPr id="130" name="Google Shape;130;g3ce0caf148c_0_8" descr="Thiagarajar College (@ThiagarajarArts) | Twitter"/>
          <p:cNvPicPr preferRelativeResize="0"/>
          <p:nvPr/>
        </p:nvPicPr>
        <p:blipFill rotWithShape="1">
          <a:blip r:embed="rId1"/>
          <a:srcRect/>
          <a:stretch>
            <a:fillRect/>
          </a:stretch>
        </p:blipFill>
        <p:spPr>
          <a:xfrm>
            <a:off x="5807968" y="0"/>
            <a:ext cx="494531" cy="515967"/>
          </a:xfrm>
          <a:prstGeom prst="rect">
            <a:avLst/>
          </a:prstGeom>
          <a:noFill/>
          <a:ln>
            <a:noFill/>
          </a:ln>
        </p:spPr>
      </p:pic>
      <p:sp>
        <p:nvSpPr>
          <p:cNvPr id="9" name="Google Shape;9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smtClean="0"/>
              <a:t>22/07/2026</a:t>
            </a:r>
            <a:endParaRPr dirty="0"/>
          </a:p>
        </p:txBody>
      </p:sp>
      <p:sp>
        <p:nvSpPr>
          <p:cNvPr id="11" name="Google Shape;93;p1"/>
          <p:cNvSpPr txBox="1">
            <a:spLocks noGrp="1"/>
          </p:cNvSpPr>
          <p:nvPr>
            <p:ph type="ftr" idx="11"/>
          </p:nvPr>
        </p:nvSpPr>
        <p:spPr>
          <a:xfrm>
            <a:off x="3863752" y="6367236"/>
            <a:ext cx="5184576" cy="365125"/>
          </a:xfrm>
          <a:prstGeom prst="rect">
            <a:avLst/>
          </a:prstGeom>
          <a:noFill/>
          <a:ln>
            <a:noFill/>
          </a:ln>
        </p:spPr>
        <p:txBody>
          <a:bodyPr spcFirstLastPara="1" wrap="square" lIns="91425" tIns="45700" rIns="91425" bIns="45700" anchor="ctr" anchorCtr="0">
            <a:noAutofit/>
          </a:bodyPr>
          <a:lstStyle/>
          <a:p>
            <a:pPr lvl="0"/>
            <a:r>
              <a:rPr lang="en-US" dirty="0"/>
              <a:t>UCS24PJ51 </a:t>
            </a:r>
            <a:r>
              <a:rPr lang="en-US" dirty="0"/>
              <a:t>Project - </a:t>
            </a:r>
            <a:r>
              <a:rPr lang="en-US" dirty="0" smtClean="0"/>
              <a:t>First</a:t>
            </a:r>
            <a:r>
              <a:rPr lang="en-US" dirty="0" smtClean="0"/>
              <a:t> </a:t>
            </a:r>
            <a:r>
              <a:rPr lang="en-US" dirty="0"/>
              <a:t>Review Presentation </a:t>
            </a:r>
            <a:r>
              <a:rPr lang="en-US" dirty="0" smtClean="0"/>
              <a:t>2026- 2027</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3ce0caf148c_0_25"/>
          <p:cNvSpPr txBox="1">
            <a:spLocks noGrp="1"/>
          </p:cNvSpPr>
          <p:nvPr>
            <p:ph type="body" idx="1"/>
          </p:nvPr>
        </p:nvSpPr>
        <p:spPr>
          <a:xfrm>
            <a:off x="820420" y="1594154"/>
            <a:ext cx="10515600" cy="46767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BOOKZEN is an online platform for buying and selling</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2400"/>
              <a:buFont typeface="Noto Sans Symbols"/>
              <a:buNone/>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 second-hand books.</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Users can register and log in securely.</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Sellers can upload book details with images and prices.</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Buyers can search books by title, author, or category.</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Users can view complete book details before purchasing.</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Buyers can place orders easily through the platform.</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The system provides a simple and user-friendly interface.</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It saves time and reduces the cost of buying books.</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IN" altLang="en-US" sz="2400" b="1">
                <a:latin typeface="Times New Roman" panose="02020603050405020304"/>
                <a:ea typeface="Times New Roman" panose="02020603050405020304"/>
                <a:cs typeface="Times New Roman" panose="02020603050405020304"/>
                <a:sym typeface="Times New Roman" panose="02020603050405020304"/>
              </a:rPr>
              <a:t> </a:t>
            </a:r>
            <a:r>
              <a:rPr lang="en-US" altLang="en-US" sz="2400" b="1">
                <a:latin typeface="Times New Roman" panose="02020603050405020304"/>
                <a:ea typeface="Times New Roman" panose="02020603050405020304"/>
                <a:cs typeface="Times New Roman" panose="02020603050405020304"/>
                <a:sym typeface="Times New Roman" panose="02020603050405020304"/>
              </a:rPr>
              <a:t>It encourages the reuse of books</a:t>
            </a:r>
            <a:r>
              <a:rPr lang="en-IN" altLang="en-US" sz="2400" b="1">
                <a:latin typeface="Times New Roman" panose="02020603050405020304"/>
                <a:ea typeface="Times New Roman" panose="02020603050405020304"/>
                <a:cs typeface="Times New Roman" panose="02020603050405020304"/>
                <a:sym typeface="Times New Roman" panose="02020603050405020304"/>
              </a:rPr>
              <a:t>.</a:t>
            </a:r>
            <a:endParaRPr lang="en-IN" altLang="en-US" sz="2400" b="1">
              <a:latin typeface="Times New Roman" panose="02020603050405020304"/>
              <a:ea typeface="Times New Roman" panose="02020603050405020304"/>
              <a:cs typeface="Times New Roman" panose="02020603050405020304"/>
              <a:sym typeface="Times New Roman" panose="02020603050405020304"/>
            </a:endParaRPr>
          </a:p>
        </p:txBody>
      </p:sp>
      <p:sp>
        <p:nvSpPr>
          <p:cNvPr id="138" name="Google Shape;138;g3ce0caf148c_0_2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40" name="Google Shape;140;g3ce0caf148c_0_25"/>
          <p:cNvSpPr txBox="1">
            <a:spLocks noGrp="1"/>
          </p:cNvSpPr>
          <p:nvPr>
            <p:ph type="title"/>
          </p:nvPr>
        </p:nvSpPr>
        <p:spPr>
          <a:xfrm>
            <a:off x="765175" y="516255"/>
            <a:ext cx="10515600" cy="992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PROPOSED SYSTEM </a:t>
            </a:r>
            <a:endParaRPr lang="en-US" b="1" u="sng">
              <a:latin typeface="Times New Roman" panose="02020603050405020304"/>
              <a:ea typeface="Times New Roman" panose="02020603050405020304"/>
              <a:cs typeface="Times New Roman" panose="02020603050405020304"/>
              <a:sym typeface="Times New Roman" panose="02020603050405020304"/>
            </a:endParaRPr>
          </a:p>
        </p:txBody>
      </p:sp>
      <p:pic>
        <p:nvPicPr>
          <p:cNvPr id="141" name="Google Shape;141;g3ce0caf148c_0_25" descr="Thiagarajar College (@ThiagarajarArts) | Twitter"/>
          <p:cNvPicPr preferRelativeResize="0"/>
          <p:nvPr/>
        </p:nvPicPr>
        <p:blipFill rotWithShape="1">
          <a:blip r:embed="rId1"/>
          <a:srcRect/>
          <a:stretch>
            <a:fillRect/>
          </a:stretch>
        </p:blipFill>
        <p:spPr>
          <a:xfrm>
            <a:off x="5807968" y="0"/>
            <a:ext cx="494531" cy="515967"/>
          </a:xfrm>
          <a:prstGeom prst="rect">
            <a:avLst/>
          </a:prstGeom>
          <a:noFill/>
          <a:ln>
            <a:noFill/>
          </a:ln>
        </p:spPr>
      </p:pic>
      <p:sp>
        <p:nvSpPr>
          <p:cNvPr id="9" name="Google Shape;9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smtClean="0"/>
              <a:t>22/07/2026</a:t>
            </a:r>
            <a:endParaRPr dirty="0"/>
          </a:p>
        </p:txBody>
      </p:sp>
      <p:sp>
        <p:nvSpPr>
          <p:cNvPr id="11" name="Google Shape;93;p1"/>
          <p:cNvSpPr txBox="1">
            <a:spLocks noGrp="1"/>
          </p:cNvSpPr>
          <p:nvPr>
            <p:ph type="ftr" idx="11"/>
          </p:nvPr>
        </p:nvSpPr>
        <p:spPr>
          <a:xfrm>
            <a:off x="3863752" y="6356350"/>
            <a:ext cx="5184576" cy="365125"/>
          </a:xfrm>
          <a:prstGeom prst="rect">
            <a:avLst/>
          </a:prstGeom>
          <a:noFill/>
          <a:ln>
            <a:noFill/>
          </a:ln>
        </p:spPr>
        <p:txBody>
          <a:bodyPr spcFirstLastPara="1" wrap="square" lIns="91425" tIns="45700" rIns="91425" bIns="45700" anchor="ctr" anchorCtr="0">
            <a:noAutofit/>
          </a:bodyPr>
          <a:lstStyle/>
          <a:p>
            <a:pPr lvl="0"/>
            <a:r>
              <a:rPr lang="en-US" dirty="0"/>
              <a:t>UCS24PJ51 </a:t>
            </a:r>
            <a:r>
              <a:rPr lang="en-US" dirty="0"/>
              <a:t>Project - </a:t>
            </a:r>
            <a:r>
              <a:rPr lang="en-US" dirty="0" smtClean="0"/>
              <a:t>First</a:t>
            </a:r>
            <a:r>
              <a:rPr lang="en-US" dirty="0" smtClean="0"/>
              <a:t> </a:t>
            </a:r>
            <a:r>
              <a:rPr lang="en-US" dirty="0"/>
              <a:t>Review Presentation </a:t>
            </a:r>
            <a:r>
              <a:rPr lang="en-US" dirty="0" smtClean="0"/>
              <a:t>2026- 2027</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4" name="Slide Number Placeholder 3"/>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
        <p:nvSpPr>
          <p:cNvPr id="5" name="Text Box 4"/>
          <p:cNvSpPr txBox="1"/>
          <p:nvPr/>
        </p:nvSpPr>
        <p:spPr>
          <a:xfrm>
            <a:off x="3543935" y="1870710"/>
            <a:ext cx="5066665" cy="4686935"/>
          </a:xfrm>
          <a:prstGeom prst="rect">
            <a:avLst/>
          </a:prstGeom>
          <a:noFill/>
        </p:spPr>
        <p:txBody>
          <a:bodyPr wrap="square" rtlCol="0">
            <a:noAutofit/>
          </a:bodyPr>
          <a:p>
            <a:endParaRPr lang="en-US"/>
          </a:p>
        </p:txBody>
      </p:sp>
      <p:sp>
        <p:nvSpPr>
          <p:cNvPr id="6" name="Rectangle 5"/>
          <p:cNvSpPr/>
          <p:nvPr/>
        </p:nvSpPr>
        <p:spPr>
          <a:xfrm>
            <a:off x="5408930" y="610870"/>
            <a:ext cx="1407795" cy="361950"/>
          </a:xfrm>
          <a:prstGeom prst="rect">
            <a:avLst/>
          </a:prstGeom>
          <a:solidFill>
            <a:schemeClr val="accent5">
              <a:lumMod val="20000"/>
              <a:lumOff val="80000"/>
            </a:schemeClr>
          </a:solidFill>
          <a:ln w="12700" cap="rnd" cmpd="sng">
            <a:solidFill>
              <a:schemeClr val="accent1">
                <a:shade val="50000"/>
              </a:schemeClr>
            </a:solid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IN" altLang="en-US" sz="1800">
                <a:ln w="12700" cmpd="sng">
                  <a:noFill/>
                  <a:prstDash val="solid"/>
                </a:ln>
                <a:solidFill>
                  <a:schemeClr val="tx1"/>
                </a:solidFill>
              </a:rPr>
              <a:t>USER</a:t>
            </a:r>
            <a:endParaRPr lang="en-IN" altLang="en-US" sz="1800">
              <a:ln w="12700" cmpd="sng">
                <a:noFill/>
                <a:prstDash val="solid"/>
              </a:ln>
              <a:solidFill>
                <a:schemeClr val="tx1"/>
              </a:solidFill>
            </a:endParaRPr>
          </a:p>
        </p:txBody>
      </p:sp>
      <p:sp>
        <p:nvSpPr>
          <p:cNvPr id="10" name="Rectangle 9"/>
          <p:cNvSpPr/>
          <p:nvPr/>
        </p:nvSpPr>
        <p:spPr>
          <a:xfrm>
            <a:off x="4972050" y="1398905"/>
            <a:ext cx="2247900" cy="412750"/>
          </a:xfrm>
          <a:prstGeom prst="rect">
            <a:avLst/>
          </a:prstGeom>
          <a:solidFill>
            <a:srgbClr val="6B5074">
              <a:alpha val="10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IN" altLang="en-US" sz="1800">
                <a:solidFill>
                  <a:schemeClr val="tx1"/>
                </a:solidFill>
                <a:effectLst/>
              </a:rPr>
              <a:t>Login / Registration</a:t>
            </a:r>
            <a:endParaRPr lang="en-IN" altLang="en-US" sz="1800">
              <a:solidFill>
                <a:schemeClr val="tx1"/>
              </a:solidFill>
              <a:effectLst/>
            </a:endParaRPr>
          </a:p>
        </p:txBody>
      </p:sp>
      <p:sp>
        <p:nvSpPr>
          <p:cNvPr id="12" name="Rectangle 11"/>
          <p:cNvSpPr/>
          <p:nvPr/>
        </p:nvSpPr>
        <p:spPr>
          <a:xfrm>
            <a:off x="4438015" y="2232025"/>
            <a:ext cx="3472180" cy="426720"/>
          </a:xfrm>
          <a:prstGeom prst="rect">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IN" altLang="en-US" sz="1800">
                <a:solidFill>
                  <a:schemeClr val="tx1"/>
                </a:solidFill>
              </a:rPr>
              <a:t>BOOKZEN (React Frontend)</a:t>
            </a:r>
            <a:endParaRPr lang="en-IN" altLang="en-US" sz="1800">
              <a:solidFill>
                <a:schemeClr val="tx1"/>
              </a:solidFill>
            </a:endParaRPr>
          </a:p>
        </p:txBody>
      </p:sp>
      <p:sp>
        <p:nvSpPr>
          <p:cNvPr id="17" name="Rectangle 16"/>
          <p:cNvSpPr/>
          <p:nvPr/>
        </p:nvSpPr>
        <p:spPr>
          <a:xfrm>
            <a:off x="4509770" y="5168265"/>
            <a:ext cx="3195955" cy="437515"/>
          </a:xfrm>
          <a:prstGeom prst="rect">
            <a:avLst/>
          </a:prstGeom>
          <a:solidFill>
            <a:schemeClr val="accent5">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IN" altLang="en-US" sz="1800">
                <a:solidFill>
                  <a:schemeClr val="tx1"/>
                </a:solidFill>
              </a:rPr>
              <a:t>Order Management</a:t>
            </a:r>
            <a:endParaRPr lang="en-IN" altLang="en-US" sz="1800">
              <a:solidFill>
                <a:schemeClr val="tx1"/>
              </a:solidFill>
            </a:endParaRPr>
          </a:p>
        </p:txBody>
      </p:sp>
      <p:sp>
        <p:nvSpPr>
          <p:cNvPr id="15" name="Rectangle 14"/>
          <p:cNvSpPr/>
          <p:nvPr/>
        </p:nvSpPr>
        <p:spPr>
          <a:xfrm>
            <a:off x="5069840" y="6043930"/>
            <a:ext cx="2150110" cy="400050"/>
          </a:xfrm>
          <a:prstGeom prst="rect">
            <a:avLst/>
          </a:prstGeom>
          <a:solidFill>
            <a:srgbClr val="0070C0">
              <a:alpha val="20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IN" altLang="en-US" sz="1800">
                <a:solidFill>
                  <a:schemeClr val="tx1"/>
                </a:solidFill>
                <a:effectLst/>
              </a:rPr>
              <a:t>Order Status</a:t>
            </a:r>
            <a:endParaRPr lang="en-IN" altLang="en-US" sz="1800">
              <a:solidFill>
                <a:schemeClr val="tx1"/>
              </a:solidFill>
              <a:effectLst/>
            </a:endParaRPr>
          </a:p>
        </p:txBody>
      </p:sp>
      <p:sp>
        <p:nvSpPr>
          <p:cNvPr id="16" name="Rectangle 15"/>
          <p:cNvSpPr/>
          <p:nvPr/>
        </p:nvSpPr>
        <p:spPr>
          <a:xfrm>
            <a:off x="3346450" y="3079115"/>
            <a:ext cx="1397000" cy="361950"/>
          </a:xfrm>
          <a:prstGeom prst="rect">
            <a:avLst/>
          </a:prstGeom>
          <a:solidFill>
            <a:schemeClr val="accent5">
              <a:lumMod val="20000"/>
              <a:lumOff val="80000"/>
            </a:schemeClr>
          </a:solidFill>
          <a:ln w="12700" cap="rnd" cmpd="sng">
            <a:solidFill>
              <a:schemeClr val="accent1">
                <a:shade val="50000"/>
              </a:schemeClr>
            </a:solid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IN" altLang="en-US" sz="1800">
                <a:ln w="12700" cmpd="sng">
                  <a:noFill/>
                  <a:prstDash val="solid"/>
                </a:ln>
                <a:solidFill>
                  <a:schemeClr val="tx1"/>
                </a:solidFill>
              </a:rPr>
              <a:t>Buyer</a:t>
            </a:r>
            <a:endParaRPr lang="en-IN" altLang="en-US" sz="1800">
              <a:ln w="12700" cmpd="sng">
                <a:noFill/>
                <a:prstDash val="solid"/>
              </a:ln>
              <a:solidFill>
                <a:schemeClr val="tx1"/>
              </a:solidFill>
            </a:endParaRPr>
          </a:p>
        </p:txBody>
      </p:sp>
      <p:sp>
        <p:nvSpPr>
          <p:cNvPr id="19" name="Rectangle 18"/>
          <p:cNvSpPr/>
          <p:nvPr/>
        </p:nvSpPr>
        <p:spPr>
          <a:xfrm>
            <a:off x="3251200" y="3787140"/>
            <a:ext cx="1549400" cy="856615"/>
          </a:xfrm>
          <a:prstGeom prst="rect">
            <a:avLst/>
          </a:prstGeom>
          <a:solidFill>
            <a:schemeClr val="accent5">
              <a:lumMod val="20000"/>
              <a:lumOff val="80000"/>
            </a:schemeClr>
          </a:solidFill>
          <a:ln w="12700" cap="rnd" cmpd="sng">
            <a:solidFill>
              <a:schemeClr val="accent1">
                <a:shade val="50000"/>
              </a:schemeClr>
            </a:solid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IN" altLang="en-US" sz="1800">
                <a:ln w="12700" cmpd="sng">
                  <a:noFill/>
                  <a:prstDash val="solid"/>
                </a:ln>
                <a:solidFill>
                  <a:schemeClr val="tx1"/>
                </a:solidFill>
              </a:rPr>
              <a:t>Search &amp; Buy Books</a:t>
            </a:r>
            <a:endParaRPr lang="en-IN" altLang="en-US" sz="1800">
              <a:ln w="12700" cmpd="sng">
                <a:noFill/>
                <a:prstDash val="solid"/>
              </a:ln>
              <a:solidFill>
                <a:schemeClr val="tx1"/>
              </a:solidFill>
            </a:endParaRPr>
          </a:p>
        </p:txBody>
      </p:sp>
      <p:sp>
        <p:nvSpPr>
          <p:cNvPr id="20" name="Rectangle 19"/>
          <p:cNvSpPr/>
          <p:nvPr/>
        </p:nvSpPr>
        <p:spPr>
          <a:xfrm>
            <a:off x="7408545" y="3791585"/>
            <a:ext cx="1795145" cy="876300"/>
          </a:xfrm>
          <a:prstGeom prst="rect">
            <a:avLst/>
          </a:prstGeom>
          <a:solidFill>
            <a:srgbClr val="E3499E">
              <a:alpha val="30000"/>
            </a:srgbClr>
          </a:solidFill>
          <a:ln w="12700" cap="rnd" cmpd="sng">
            <a:solidFill>
              <a:schemeClr val="accent1">
                <a:shade val="50000"/>
              </a:schemeClr>
            </a:solid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IN" altLang="en-US" sz="1800">
                <a:ln w="12700" cmpd="sng">
                  <a:noFill/>
                  <a:prstDash val="solid"/>
                </a:ln>
                <a:solidFill>
                  <a:schemeClr val="tx1"/>
                </a:solidFill>
              </a:rPr>
              <a:t>Authentication &amp; Database</a:t>
            </a:r>
            <a:endParaRPr lang="en-IN" altLang="en-US" sz="1800">
              <a:ln w="12700" cmpd="sng">
                <a:noFill/>
                <a:prstDash val="solid"/>
              </a:ln>
              <a:solidFill>
                <a:schemeClr val="tx1"/>
              </a:solidFill>
            </a:endParaRPr>
          </a:p>
        </p:txBody>
      </p:sp>
      <p:sp>
        <p:nvSpPr>
          <p:cNvPr id="21" name="Rectangle 20"/>
          <p:cNvSpPr/>
          <p:nvPr/>
        </p:nvSpPr>
        <p:spPr>
          <a:xfrm>
            <a:off x="7566660" y="3065145"/>
            <a:ext cx="1397000" cy="361950"/>
          </a:xfrm>
          <a:prstGeom prst="rect">
            <a:avLst/>
          </a:prstGeom>
          <a:solidFill>
            <a:srgbClr val="E3499E">
              <a:alpha val="30000"/>
            </a:srgbClr>
          </a:solidFill>
          <a:ln w="12700" cap="rnd" cmpd="sng">
            <a:solidFill>
              <a:schemeClr val="accent1">
                <a:shade val="50000"/>
              </a:schemeClr>
            </a:solid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IN" altLang="en-US" sz="1800">
                <a:ln w="12700" cmpd="sng">
                  <a:noFill/>
                  <a:prstDash val="solid"/>
                </a:ln>
                <a:solidFill>
                  <a:schemeClr val="tx1"/>
                </a:solidFill>
              </a:rPr>
              <a:t>Firebase</a:t>
            </a:r>
            <a:endParaRPr lang="en-IN" altLang="en-US" sz="1800">
              <a:ln w="12700" cmpd="sng">
                <a:noFill/>
                <a:prstDash val="solid"/>
              </a:ln>
              <a:solidFill>
                <a:schemeClr val="tx1"/>
              </a:solidFill>
            </a:endParaRPr>
          </a:p>
        </p:txBody>
      </p:sp>
      <p:sp>
        <p:nvSpPr>
          <p:cNvPr id="22" name="Rectangle 21"/>
          <p:cNvSpPr/>
          <p:nvPr/>
        </p:nvSpPr>
        <p:spPr>
          <a:xfrm>
            <a:off x="5187315" y="3771900"/>
            <a:ext cx="1834515" cy="895985"/>
          </a:xfrm>
          <a:prstGeom prst="rect">
            <a:avLst/>
          </a:prstGeom>
          <a:solidFill>
            <a:srgbClr val="FFB259">
              <a:alpha val="30000"/>
            </a:srgbClr>
          </a:solidFill>
          <a:ln w="12700" cap="rnd" cmpd="sng">
            <a:solidFill>
              <a:schemeClr val="accent1">
                <a:shade val="50000"/>
              </a:schemeClr>
            </a:solid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IN" altLang="en-US" sz="1800">
                <a:ln w="12700" cmpd="sng">
                  <a:noFill/>
                  <a:prstDash val="solid"/>
                </a:ln>
                <a:solidFill>
                  <a:schemeClr val="tx1"/>
                </a:solidFill>
              </a:rPr>
              <a:t>Upload &amp; Manage Books</a:t>
            </a:r>
            <a:endParaRPr lang="en-IN" altLang="en-US" sz="1800">
              <a:ln w="12700" cmpd="sng">
                <a:noFill/>
                <a:prstDash val="solid"/>
              </a:ln>
              <a:solidFill>
                <a:schemeClr val="tx1"/>
              </a:solidFill>
            </a:endParaRPr>
          </a:p>
        </p:txBody>
      </p:sp>
      <p:sp>
        <p:nvSpPr>
          <p:cNvPr id="23" name="Rectangle 22"/>
          <p:cNvSpPr/>
          <p:nvPr/>
        </p:nvSpPr>
        <p:spPr>
          <a:xfrm>
            <a:off x="5408930" y="3071495"/>
            <a:ext cx="1397000" cy="361950"/>
          </a:xfrm>
          <a:prstGeom prst="rect">
            <a:avLst/>
          </a:prstGeom>
          <a:solidFill>
            <a:srgbClr val="FFB259">
              <a:alpha val="30000"/>
            </a:srgbClr>
          </a:solidFill>
          <a:ln w="12700" cap="rnd" cmpd="sng">
            <a:solidFill>
              <a:schemeClr val="accent1">
                <a:shade val="50000"/>
              </a:schemeClr>
            </a:solid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IN" altLang="en-US" sz="1800">
                <a:ln w="12700" cmpd="sng">
                  <a:noFill/>
                  <a:prstDash val="solid"/>
                </a:ln>
                <a:solidFill>
                  <a:schemeClr val="tx1"/>
                </a:solidFill>
              </a:rPr>
              <a:t>Seller</a:t>
            </a:r>
            <a:endParaRPr lang="en-IN" altLang="en-US" sz="1800">
              <a:ln w="12700" cmpd="sng">
                <a:noFill/>
                <a:prstDash val="solid"/>
              </a:ln>
              <a:solidFill>
                <a:schemeClr val="tx1"/>
              </a:solidFill>
            </a:endParaRPr>
          </a:p>
        </p:txBody>
      </p:sp>
      <p:cxnSp>
        <p:nvCxnSpPr>
          <p:cNvPr id="25" name="Straight Arrow Connector 24"/>
          <p:cNvCxnSpPr/>
          <p:nvPr/>
        </p:nvCxnSpPr>
        <p:spPr>
          <a:xfrm>
            <a:off x="6096000" y="2651760"/>
            <a:ext cx="0" cy="416560"/>
          </a:xfrm>
          <a:prstGeom prst="straightConnector1">
            <a:avLst/>
          </a:prstGeom>
          <a:ln w="317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6" name="Straight Arrow Connector 25"/>
          <p:cNvCxnSpPr>
            <a:stCxn id="10" idx="2"/>
          </p:cNvCxnSpPr>
          <p:nvPr/>
        </p:nvCxnSpPr>
        <p:spPr>
          <a:xfrm>
            <a:off x="6096000" y="1811655"/>
            <a:ext cx="0" cy="422910"/>
          </a:xfrm>
          <a:prstGeom prst="straightConnector1">
            <a:avLst/>
          </a:prstGeom>
          <a:ln w="317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7" name="Straight Arrow Connector 26"/>
          <p:cNvCxnSpPr>
            <a:endCxn id="19" idx="0"/>
          </p:cNvCxnSpPr>
          <p:nvPr/>
        </p:nvCxnSpPr>
        <p:spPr>
          <a:xfrm>
            <a:off x="4019550" y="3440430"/>
            <a:ext cx="6350" cy="346710"/>
          </a:xfrm>
          <a:prstGeom prst="straightConnector1">
            <a:avLst/>
          </a:prstGeom>
          <a:ln w="317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8" name="Straight Arrow Connector 27"/>
          <p:cNvCxnSpPr/>
          <p:nvPr/>
        </p:nvCxnSpPr>
        <p:spPr>
          <a:xfrm>
            <a:off x="8357235" y="3434715"/>
            <a:ext cx="3810" cy="368300"/>
          </a:xfrm>
          <a:prstGeom prst="straightConnector1">
            <a:avLst/>
          </a:prstGeom>
          <a:ln w="317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9" name="Straight Arrow Connector 28"/>
          <p:cNvCxnSpPr/>
          <p:nvPr/>
        </p:nvCxnSpPr>
        <p:spPr>
          <a:xfrm flipH="1">
            <a:off x="6115050" y="3439795"/>
            <a:ext cx="5080" cy="332105"/>
          </a:xfrm>
          <a:prstGeom prst="straightConnector1">
            <a:avLst/>
          </a:prstGeom>
          <a:ln w="317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0" name="Straight Arrow Connector 29"/>
          <p:cNvCxnSpPr>
            <a:stCxn id="17" idx="2"/>
          </p:cNvCxnSpPr>
          <p:nvPr/>
        </p:nvCxnSpPr>
        <p:spPr>
          <a:xfrm>
            <a:off x="6108065" y="5605780"/>
            <a:ext cx="6985" cy="459105"/>
          </a:xfrm>
          <a:prstGeom prst="straightConnector1">
            <a:avLst/>
          </a:prstGeom>
          <a:ln w="317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1" name="Straight Arrow Connector 30"/>
          <p:cNvCxnSpPr/>
          <p:nvPr/>
        </p:nvCxnSpPr>
        <p:spPr>
          <a:xfrm>
            <a:off x="8315325" y="2423795"/>
            <a:ext cx="5715" cy="633730"/>
          </a:xfrm>
          <a:prstGeom prst="straightConnector1">
            <a:avLst/>
          </a:prstGeom>
          <a:ln w="317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4" name="Straight Arrow Connector 33"/>
          <p:cNvCxnSpPr>
            <a:stCxn id="22" idx="2"/>
            <a:endCxn id="17" idx="0"/>
          </p:cNvCxnSpPr>
          <p:nvPr/>
        </p:nvCxnSpPr>
        <p:spPr>
          <a:xfrm>
            <a:off x="6104890" y="4667885"/>
            <a:ext cx="3175" cy="500380"/>
          </a:xfrm>
          <a:prstGeom prst="straightConnector1">
            <a:avLst/>
          </a:prstGeom>
          <a:ln w="317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7" name="Straight Connector 36"/>
          <p:cNvCxnSpPr/>
          <p:nvPr/>
        </p:nvCxnSpPr>
        <p:spPr>
          <a:xfrm>
            <a:off x="7919085" y="2430780"/>
            <a:ext cx="410845" cy="2540"/>
          </a:xfrm>
          <a:prstGeom prst="line">
            <a:avLst/>
          </a:prstGeom>
          <a:ln w="31750">
            <a:solidFill>
              <a:schemeClr val="tx1"/>
            </a:solidFill>
          </a:ln>
        </p:spPr>
        <p:style>
          <a:lnRef idx="2">
            <a:schemeClr val="accent1"/>
          </a:lnRef>
          <a:fillRef idx="0">
            <a:srgbClr val="FFFFFF"/>
          </a:fillRef>
          <a:effectRef idx="0">
            <a:srgbClr val="FFFFFF"/>
          </a:effectRef>
          <a:fontRef idx="minor">
            <a:schemeClr val="tx1"/>
          </a:fontRef>
        </p:style>
      </p:cxnSp>
      <p:cxnSp>
        <p:nvCxnSpPr>
          <p:cNvPr id="38" name="Straight Arrow Connector 37"/>
          <p:cNvCxnSpPr/>
          <p:nvPr/>
        </p:nvCxnSpPr>
        <p:spPr>
          <a:xfrm>
            <a:off x="6101715" y="1014095"/>
            <a:ext cx="13335" cy="364490"/>
          </a:xfrm>
          <a:prstGeom prst="straightConnector1">
            <a:avLst/>
          </a:prstGeom>
          <a:ln w="317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42" name="Straight Arrow Connector 41"/>
          <p:cNvCxnSpPr/>
          <p:nvPr/>
        </p:nvCxnSpPr>
        <p:spPr>
          <a:xfrm>
            <a:off x="4003675" y="2441575"/>
            <a:ext cx="9525" cy="642620"/>
          </a:xfrm>
          <a:prstGeom prst="straightConnector1">
            <a:avLst/>
          </a:prstGeom>
          <a:ln w="317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43" name="Straight Connector 42"/>
          <p:cNvCxnSpPr/>
          <p:nvPr/>
        </p:nvCxnSpPr>
        <p:spPr>
          <a:xfrm>
            <a:off x="4000500" y="2458720"/>
            <a:ext cx="428625" cy="1905"/>
          </a:xfrm>
          <a:prstGeom prst="line">
            <a:avLst/>
          </a:prstGeom>
          <a:ln w="31750">
            <a:solidFill>
              <a:schemeClr val="tx1"/>
            </a:solidFill>
          </a:ln>
        </p:spPr>
        <p:style>
          <a:lnRef idx="2">
            <a:schemeClr val="accent1"/>
          </a:lnRef>
          <a:fillRef idx="0">
            <a:srgbClr val="FFFFFF"/>
          </a:fillRef>
          <a:effectRef idx="0">
            <a:srgbClr val="FFFFFF"/>
          </a:effectRef>
          <a:fontRef idx="minor">
            <a:schemeClr val="tx1"/>
          </a:fontRef>
        </p:style>
      </p:cxnSp>
      <p:cxnSp>
        <p:nvCxnSpPr>
          <p:cNvPr id="44" name="Straight Connector 43"/>
          <p:cNvCxnSpPr/>
          <p:nvPr/>
        </p:nvCxnSpPr>
        <p:spPr>
          <a:xfrm>
            <a:off x="3924300" y="4918710"/>
            <a:ext cx="4448175" cy="18415"/>
          </a:xfrm>
          <a:prstGeom prst="line">
            <a:avLst/>
          </a:prstGeom>
          <a:ln w="31750">
            <a:solidFill>
              <a:schemeClr val="tx1"/>
            </a:solidFill>
          </a:ln>
        </p:spPr>
        <p:style>
          <a:lnRef idx="2">
            <a:schemeClr val="accent1"/>
          </a:lnRef>
          <a:fillRef idx="0">
            <a:srgbClr val="FFFFFF"/>
          </a:fillRef>
          <a:effectRef idx="0">
            <a:srgbClr val="FFFFFF"/>
          </a:effectRef>
          <a:fontRef idx="minor">
            <a:schemeClr val="tx1"/>
          </a:fontRef>
        </p:style>
      </p:cxnSp>
      <p:cxnSp>
        <p:nvCxnSpPr>
          <p:cNvPr id="49" name="Straight Connector 48"/>
          <p:cNvCxnSpPr/>
          <p:nvPr/>
        </p:nvCxnSpPr>
        <p:spPr>
          <a:xfrm flipH="1">
            <a:off x="8355965" y="4672330"/>
            <a:ext cx="1270" cy="247650"/>
          </a:xfrm>
          <a:prstGeom prst="line">
            <a:avLst/>
          </a:prstGeom>
          <a:ln w="31750">
            <a:solidFill>
              <a:schemeClr val="tx1"/>
            </a:solidFill>
          </a:ln>
        </p:spPr>
        <p:style>
          <a:lnRef idx="2">
            <a:schemeClr val="accent1"/>
          </a:lnRef>
          <a:fillRef idx="0">
            <a:srgbClr val="FFFFFF"/>
          </a:fillRef>
          <a:effectRef idx="0">
            <a:srgbClr val="FFFFFF"/>
          </a:effectRef>
          <a:fontRef idx="minor">
            <a:schemeClr val="tx1"/>
          </a:fontRef>
        </p:style>
      </p:cxnSp>
      <p:cxnSp>
        <p:nvCxnSpPr>
          <p:cNvPr id="50" name="Straight Connector 49"/>
          <p:cNvCxnSpPr/>
          <p:nvPr/>
        </p:nvCxnSpPr>
        <p:spPr>
          <a:xfrm>
            <a:off x="3947795" y="4646930"/>
            <a:ext cx="2540" cy="273050"/>
          </a:xfrm>
          <a:prstGeom prst="line">
            <a:avLst/>
          </a:prstGeom>
          <a:ln w="31750">
            <a:solidFill>
              <a:schemeClr val="tx1"/>
            </a:solidFill>
          </a:ln>
        </p:spPr>
        <p:style>
          <a:lnRef idx="2">
            <a:schemeClr val="accent1"/>
          </a:lnRef>
          <a:fillRef idx="0">
            <a:srgbClr val="FFFFFF"/>
          </a:fillRef>
          <a:effectRef idx="0">
            <a:srgbClr val="FFFFFF"/>
          </a:effectRef>
          <a:fontRef idx="minor">
            <a:schemeClr val="tx1"/>
          </a:fontRef>
        </p:style>
      </p:cxnSp>
      <p:sp>
        <p:nvSpPr>
          <p:cNvPr id="52" name="Google Shape;93;p1"/>
          <p:cNvSpPr txBox="1">
            <a:spLocks noGrp="1"/>
          </p:cNvSpPr>
          <p:nvPr>
            <p:ph type="ftr" idx="11"/>
          </p:nvPr>
        </p:nvSpPr>
        <p:spPr>
          <a:xfrm>
            <a:off x="3778027" y="6484620"/>
            <a:ext cx="5184576" cy="365125"/>
          </a:xfrm>
          <a:prstGeom prst="rect">
            <a:avLst/>
          </a:prstGeom>
          <a:noFill/>
          <a:ln>
            <a:noFill/>
          </a:ln>
        </p:spPr>
        <p:txBody>
          <a:bodyPr spcFirstLastPara="1" wrap="square" lIns="91425" tIns="45700" rIns="91425" bIns="45700" anchor="ctr" anchorCtr="0">
            <a:noAutofit/>
          </a:bodyPr>
          <a:lstStyle/>
          <a:p>
            <a:pPr lvl="0"/>
            <a:r>
              <a:rPr lang="en-US" dirty="0"/>
              <a:t>UCS24PJ51 </a:t>
            </a:r>
            <a:r>
              <a:rPr lang="en-US" dirty="0"/>
              <a:t>Project - </a:t>
            </a:r>
            <a:r>
              <a:rPr lang="en-US" dirty="0" smtClean="0"/>
              <a:t>First</a:t>
            </a:r>
            <a:r>
              <a:rPr lang="en-US" dirty="0" smtClean="0"/>
              <a:t> </a:t>
            </a:r>
            <a:r>
              <a:rPr lang="en-US" dirty="0"/>
              <a:t>Review Presentation </a:t>
            </a:r>
            <a:r>
              <a:rPr lang="en-US" dirty="0" smtClean="0"/>
              <a:t>2026- 2027</a:t>
            </a:r>
            <a:endParaRPr dirty="0"/>
          </a:p>
        </p:txBody>
      </p:sp>
      <p:sp>
        <p:nvSpPr>
          <p:cNvPr id="54" name="Google Shape;98;p1"/>
          <p:cNvSpPr txBox="1">
            <a:spLocks noGrp="1"/>
          </p:cNvSpPr>
          <p:nvPr>
            <p:ph type="dt" idx="10"/>
          </p:nvPr>
        </p:nvSpPr>
        <p:spPr>
          <a:xfrm>
            <a:off x="838200" y="641350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smtClean="0"/>
              <a:t>22/07/2026</a:t>
            </a:r>
            <a:endParaRPr dirty="0"/>
          </a:p>
        </p:txBody>
      </p:sp>
      <p:pic>
        <p:nvPicPr>
          <p:cNvPr id="141" name="Google Shape;141;g3ce0caf148c_0_25" descr="Thiagarajar College (@ThiagarajarArts) | Twitter"/>
          <p:cNvPicPr preferRelativeResize="0"/>
          <p:nvPr/>
        </p:nvPicPr>
        <p:blipFill rotWithShape="1">
          <a:blip r:embed="rId1"/>
          <a:srcRect/>
          <a:stretch>
            <a:fillRect/>
          </a:stretch>
        </p:blipFill>
        <p:spPr>
          <a:xfrm>
            <a:off x="5840353" y="5715"/>
            <a:ext cx="494531" cy="51596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3ce0caf148c_0_17"/>
          <p:cNvSpPr txBox="1">
            <a:spLocks noGrp="1"/>
          </p:cNvSpPr>
          <p:nvPr>
            <p:ph type="body" idx="1"/>
          </p:nvPr>
        </p:nvSpPr>
        <p:spPr>
          <a:xfrm>
            <a:off x="837565" y="1804670"/>
            <a:ext cx="10474960" cy="467677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Font typeface="Noto Sans Symbols"/>
              <a:buChar char="❖"/>
            </a:pPr>
            <a:r>
              <a:rPr lang="en-US" altLang="en-US" sz="2400" b="1">
                <a:latin typeface="Times New Roman" panose="02020603050405020304"/>
                <a:ea typeface="Times New Roman" panose="02020603050405020304"/>
                <a:cs typeface="Times New Roman" panose="02020603050405020304"/>
                <a:sym typeface="Times New Roman" panose="02020603050405020304"/>
              </a:rPr>
              <a:t>Users can register and log in securely.</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US" altLang="en-US" sz="2400" b="1">
                <a:latin typeface="Times New Roman" panose="02020603050405020304"/>
                <a:ea typeface="Times New Roman" panose="02020603050405020304"/>
                <a:cs typeface="Times New Roman" panose="02020603050405020304"/>
                <a:sym typeface="Times New Roman" panose="02020603050405020304"/>
              </a:rPr>
              <a:t>Buyers can search and purchase books.</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US" altLang="en-US" sz="2400" b="1">
                <a:latin typeface="Times New Roman" panose="02020603050405020304"/>
                <a:ea typeface="Times New Roman" panose="02020603050405020304"/>
                <a:cs typeface="Times New Roman" panose="02020603050405020304"/>
                <a:sym typeface="Times New Roman" panose="02020603050405020304"/>
              </a:rPr>
              <a:t>Sellers can upload and manage book details.</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US" altLang="en-US" sz="2400" b="1">
                <a:latin typeface="Times New Roman" panose="02020603050405020304"/>
                <a:ea typeface="Times New Roman" panose="02020603050405020304"/>
                <a:cs typeface="Times New Roman" panose="02020603050405020304"/>
                <a:sym typeface="Times New Roman" panose="02020603050405020304"/>
              </a:rPr>
              <a:t>React.js provides the user interface.</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US" altLang="en-US" sz="2400" b="1">
                <a:latin typeface="Times New Roman" panose="02020603050405020304"/>
                <a:ea typeface="Times New Roman" panose="02020603050405020304"/>
                <a:cs typeface="Times New Roman" panose="02020603050405020304"/>
                <a:sym typeface="Times New Roman" panose="02020603050405020304"/>
              </a:rPr>
              <a:t>Firebase handles authentication and database storage.</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US" altLang="en-US" sz="2400" b="1">
                <a:latin typeface="Times New Roman" panose="02020603050405020304"/>
                <a:ea typeface="Times New Roman" panose="02020603050405020304"/>
                <a:cs typeface="Times New Roman" panose="02020603050405020304"/>
                <a:sym typeface="Times New Roman" panose="02020603050405020304"/>
              </a:rPr>
              <a:t>The system manages orders and user information efficiently.</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US" altLang="en-US" sz="2400" b="1">
                <a:latin typeface="Times New Roman" panose="02020603050405020304"/>
                <a:ea typeface="Times New Roman" panose="02020603050405020304"/>
                <a:cs typeface="Times New Roman" panose="02020603050405020304"/>
                <a:sym typeface="Times New Roman" panose="02020603050405020304"/>
              </a:rPr>
              <a:t>Architecture Diagram</a:t>
            </a:r>
            <a:r>
              <a:rPr lang="en-IN" altLang="en-US" sz="2400" b="1">
                <a:latin typeface="Times New Roman" panose="02020603050405020304"/>
                <a:ea typeface="Times New Roman" panose="02020603050405020304"/>
                <a:cs typeface="Times New Roman" panose="02020603050405020304"/>
                <a:sym typeface="Times New Roman" panose="02020603050405020304"/>
              </a:rPr>
              <a:t>.</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2400"/>
              <a:buFont typeface="Noto Sans Symbols"/>
              <a:buNone/>
            </a:pP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g3ce0caf148c_0_1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51" name="Google Shape;151;g3ce0caf148c_0_17"/>
          <p:cNvSpPr txBox="1">
            <a:spLocks noGrp="1"/>
          </p:cNvSpPr>
          <p:nvPr>
            <p:ph type="title"/>
          </p:nvPr>
        </p:nvSpPr>
        <p:spPr>
          <a:xfrm>
            <a:off x="796925" y="664210"/>
            <a:ext cx="10515600" cy="992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PROPOSED SYSTEM ARCHITECTURE </a:t>
            </a:r>
            <a:endParaRPr lang="en-US" b="1" u="sng">
              <a:latin typeface="Times New Roman" panose="02020603050405020304"/>
              <a:ea typeface="Times New Roman" panose="02020603050405020304"/>
              <a:cs typeface="Times New Roman" panose="02020603050405020304"/>
              <a:sym typeface="Times New Roman" panose="02020603050405020304"/>
            </a:endParaRPr>
          </a:p>
        </p:txBody>
      </p:sp>
      <p:pic>
        <p:nvPicPr>
          <p:cNvPr id="152" name="Google Shape;152;g3ce0caf148c_0_17" descr="Thiagarajar College (@ThiagarajarArts) | Twitter"/>
          <p:cNvPicPr preferRelativeResize="0"/>
          <p:nvPr/>
        </p:nvPicPr>
        <p:blipFill rotWithShape="1">
          <a:blip r:embed="rId1"/>
          <a:srcRect/>
          <a:stretch>
            <a:fillRect/>
          </a:stretch>
        </p:blipFill>
        <p:spPr>
          <a:xfrm>
            <a:off x="5807968" y="0"/>
            <a:ext cx="494531" cy="515967"/>
          </a:xfrm>
          <a:prstGeom prst="rect">
            <a:avLst/>
          </a:prstGeom>
          <a:noFill/>
          <a:ln>
            <a:noFill/>
          </a:ln>
        </p:spPr>
      </p:pic>
      <p:sp>
        <p:nvSpPr>
          <p:cNvPr id="9" name="Google Shape;9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smtClean="0"/>
              <a:t>22/07/2026</a:t>
            </a:r>
            <a:endParaRPr dirty="0"/>
          </a:p>
        </p:txBody>
      </p:sp>
      <p:sp>
        <p:nvSpPr>
          <p:cNvPr id="11" name="Google Shape;93;p1"/>
          <p:cNvSpPr txBox="1">
            <a:spLocks noGrp="1"/>
          </p:cNvSpPr>
          <p:nvPr>
            <p:ph type="ftr" idx="11"/>
          </p:nvPr>
        </p:nvSpPr>
        <p:spPr>
          <a:xfrm>
            <a:off x="3863752" y="6356350"/>
            <a:ext cx="5184576" cy="365125"/>
          </a:xfrm>
          <a:prstGeom prst="rect">
            <a:avLst/>
          </a:prstGeom>
          <a:noFill/>
          <a:ln>
            <a:noFill/>
          </a:ln>
        </p:spPr>
        <p:txBody>
          <a:bodyPr spcFirstLastPara="1" wrap="square" lIns="91425" tIns="45700" rIns="91425" bIns="45700" anchor="ctr" anchorCtr="0">
            <a:noAutofit/>
          </a:bodyPr>
          <a:lstStyle/>
          <a:p>
            <a:pPr lvl="0"/>
            <a:r>
              <a:rPr lang="en-US" dirty="0"/>
              <a:t>UCS24PJ51 </a:t>
            </a:r>
            <a:r>
              <a:rPr lang="en-US" dirty="0"/>
              <a:t>Project - </a:t>
            </a:r>
            <a:r>
              <a:rPr lang="en-US" dirty="0" smtClean="0"/>
              <a:t>First</a:t>
            </a:r>
            <a:r>
              <a:rPr lang="en-US" dirty="0" smtClean="0"/>
              <a:t> </a:t>
            </a:r>
            <a:r>
              <a:rPr lang="en-US" dirty="0"/>
              <a:t>Review Presentation </a:t>
            </a:r>
            <a:r>
              <a:rPr lang="en-US" dirty="0" smtClean="0"/>
              <a:t>2026- 2027</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g3ce0caf148c_0_41"/>
          <p:cNvSpPr txBox="1">
            <a:spLocks noGrp="1"/>
          </p:cNvSpPr>
          <p:nvPr>
            <p:ph type="body" idx="1"/>
          </p:nvPr>
        </p:nvSpPr>
        <p:spPr>
          <a:xfrm>
            <a:off x="819150" y="1679879"/>
            <a:ext cx="10515600" cy="46767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Font typeface="Noto Sans Symbols"/>
              <a:buChar char="❖"/>
            </a:pPr>
            <a:r>
              <a:rPr lang="en-US" altLang="en-US" sz="2400" b="1">
                <a:latin typeface="Times New Roman" panose="02020603050405020304"/>
                <a:ea typeface="Times New Roman" panose="02020603050405020304"/>
                <a:cs typeface="Times New Roman" panose="02020603050405020304"/>
                <a:sym typeface="Times New Roman" panose="02020603050405020304"/>
              </a:rPr>
              <a:t>User Authentication</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US" altLang="en-US" sz="2400" b="1">
                <a:latin typeface="Times New Roman" panose="02020603050405020304"/>
                <a:ea typeface="Times New Roman" panose="02020603050405020304"/>
                <a:cs typeface="Times New Roman" panose="02020603050405020304"/>
                <a:sym typeface="Times New Roman" panose="02020603050405020304"/>
              </a:rPr>
              <a:t>Home Module</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US" altLang="en-US" sz="2400" b="1">
                <a:latin typeface="Times New Roman" panose="02020603050405020304"/>
                <a:ea typeface="Times New Roman" panose="02020603050405020304"/>
                <a:cs typeface="Times New Roman" panose="02020603050405020304"/>
                <a:sym typeface="Times New Roman" panose="02020603050405020304"/>
              </a:rPr>
              <a:t>Book Search Module</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US" altLang="en-US" sz="2400" b="1">
                <a:latin typeface="Times New Roman" panose="02020603050405020304"/>
                <a:ea typeface="Times New Roman" panose="02020603050405020304"/>
                <a:cs typeface="Times New Roman" panose="02020603050405020304"/>
                <a:sym typeface="Times New Roman" panose="02020603050405020304"/>
              </a:rPr>
              <a:t>Book Selling Module</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US" altLang="en-US" sz="2400" b="1">
                <a:latin typeface="Times New Roman" panose="02020603050405020304"/>
                <a:ea typeface="Times New Roman" panose="02020603050405020304"/>
                <a:cs typeface="Times New Roman" panose="02020603050405020304"/>
                <a:sym typeface="Times New Roman" panose="02020603050405020304"/>
              </a:rPr>
              <a:t>Book Buying Module</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US" altLang="en-US" sz="2400" b="1">
                <a:latin typeface="Times New Roman" panose="02020603050405020304"/>
                <a:ea typeface="Times New Roman" panose="02020603050405020304"/>
                <a:cs typeface="Times New Roman" panose="02020603050405020304"/>
                <a:sym typeface="Times New Roman" panose="02020603050405020304"/>
              </a:rPr>
              <a:t>Order Management Module</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US" altLang="en-US" sz="2400" b="1">
                <a:latin typeface="Times New Roman" panose="02020603050405020304"/>
                <a:ea typeface="Times New Roman" panose="02020603050405020304"/>
                <a:cs typeface="Times New Roman" panose="02020603050405020304"/>
                <a:sym typeface="Times New Roman" panose="02020603050405020304"/>
              </a:rPr>
              <a:t>User Profile Module</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0"/>
              </a:spcBef>
              <a:spcAft>
                <a:spcPts val="0"/>
              </a:spcAft>
              <a:buClr>
                <a:schemeClr val="dk1"/>
              </a:buClr>
              <a:buSzPts val="2400"/>
              <a:buFont typeface="Noto Sans Symbols"/>
              <a:buChar char="❖"/>
            </a:pPr>
            <a:r>
              <a:rPr lang="en-US" altLang="en-US" sz="2400" b="1">
                <a:latin typeface="Times New Roman" panose="02020603050405020304"/>
                <a:ea typeface="Times New Roman" panose="02020603050405020304"/>
                <a:cs typeface="Times New Roman" panose="02020603050405020304"/>
                <a:sym typeface="Times New Roman" panose="02020603050405020304"/>
              </a:rPr>
              <a:t>Firebase Database Module</a:t>
            </a:r>
            <a:endParaRPr lang="en-US" altLang="en-US" sz="2400" b="1">
              <a:latin typeface="Times New Roman" panose="02020603050405020304"/>
              <a:ea typeface="Times New Roman" panose="02020603050405020304"/>
              <a:cs typeface="Times New Roman" panose="02020603050405020304"/>
              <a:sym typeface="Times New Roman" panose="02020603050405020304"/>
            </a:endParaRPr>
          </a:p>
        </p:txBody>
      </p:sp>
      <p:sp>
        <p:nvSpPr>
          <p:cNvPr id="160" name="Google Shape;160;g3ce0caf148c_0_4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62" name="Google Shape;162;g3ce0caf148c_0_41"/>
          <p:cNvSpPr txBox="1">
            <a:spLocks noGrp="1"/>
          </p:cNvSpPr>
          <p:nvPr>
            <p:ph type="title"/>
          </p:nvPr>
        </p:nvSpPr>
        <p:spPr>
          <a:xfrm>
            <a:off x="819150" y="601980"/>
            <a:ext cx="10515600" cy="992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LIST OF MODULES</a:t>
            </a:r>
            <a:endParaRPr lang="en-US" b="1" u="sng">
              <a:latin typeface="Times New Roman" panose="02020603050405020304"/>
              <a:ea typeface="Times New Roman" panose="02020603050405020304"/>
              <a:cs typeface="Times New Roman" panose="02020603050405020304"/>
              <a:sym typeface="Times New Roman" panose="02020603050405020304"/>
            </a:endParaRPr>
          </a:p>
        </p:txBody>
      </p:sp>
      <p:pic>
        <p:nvPicPr>
          <p:cNvPr id="163" name="Google Shape;163;g3ce0caf148c_0_41" descr="Thiagarajar College (@ThiagarajarArts) | Twitter"/>
          <p:cNvPicPr preferRelativeResize="0"/>
          <p:nvPr/>
        </p:nvPicPr>
        <p:blipFill rotWithShape="1">
          <a:blip r:embed="rId1"/>
          <a:srcRect/>
          <a:stretch>
            <a:fillRect/>
          </a:stretch>
        </p:blipFill>
        <p:spPr>
          <a:xfrm>
            <a:off x="5807968" y="0"/>
            <a:ext cx="494531" cy="515967"/>
          </a:xfrm>
          <a:prstGeom prst="rect">
            <a:avLst/>
          </a:prstGeom>
          <a:noFill/>
          <a:ln>
            <a:noFill/>
          </a:ln>
        </p:spPr>
      </p:pic>
      <p:sp>
        <p:nvSpPr>
          <p:cNvPr id="9" name="Google Shape;9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smtClean="0"/>
              <a:t>22/07/2026</a:t>
            </a:r>
            <a:endParaRPr dirty="0"/>
          </a:p>
        </p:txBody>
      </p:sp>
      <p:sp>
        <p:nvSpPr>
          <p:cNvPr id="11" name="Google Shape;93;p1"/>
          <p:cNvSpPr txBox="1">
            <a:spLocks noGrp="1"/>
          </p:cNvSpPr>
          <p:nvPr>
            <p:ph type="ftr" idx="11"/>
          </p:nvPr>
        </p:nvSpPr>
        <p:spPr>
          <a:xfrm>
            <a:off x="3863752" y="6356350"/>
            <a:ext cx="5184576" cy="365125"/>
          </a:xfrm>
          <a:prstGeom prst="rect">
            <a:avLst/>
          </a:prstGeom>
          <a:noFill/>
          <a:ln>
            <a:noFill/>
          </a:ln>
        </p:spPr>
        <p:txBody>
          <a:bodyPr spcFirstLastPara="1" wrap="square" lIns="91425" tIns="45700" rIns="91425" bIns="45700" anchor="ctr" anchorCtr="0">
            <a:noAutofit/>
          </a:bodyPr>
          <a:lstStyle/>
          <a:p>
            <a:pPr lvl="0"/>
            <a:r>
              <a:rPr lang="en-US" dirty="0"/>
              <a:t>UCS24PJ51 </a:t>
            </a:r>
            <a:r>
              <a:rPr lang="en-US" dirty="0"/>
              <a:t>Project - </a:t>
            </a:r>
            <a:r>
              <a:rPr lang="en-US" dirty="0" smtClean="0"/>
              <a:t>First</a:t>
            </a:r>
            <a:r>
              <a:rPr lang="en-US" dirty="0" smtClean="0"/>
              <a:t> </a:t>
            </a:r>
            <a:r>
              <a:rPr lang="en-US" dirty="0"/>
              <a:t>Review Presentation </a:t>
            </a:r>
            <a:r>
              <a:rPr lang="en-US" dirty="0" smtClean="0"/>
              <a:t>2026- 2027</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1" name="Google Shape;171;g3ce0caf148c_0_3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73" name="Google Shape;173;g3ce0caf148c_0_33"/>
          <p:cNvSpPr txBox="1">
            <a:spLocks noGrp="1"/>
          </p:cNvSpPr>
          <p:nvPr>
            <p:ph type="title"/>
          </p:nvPr>
        </p:nvSpPr>
        <p:spPr>
          <a:xfrm>
            <a:off x="838200" y="516255"/>
            <a:ext cx="10515600" cy="992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RESULT COMPARISON / ANALYSIS</a:t>
            </a:r>
            <a:endParaRPr lang="en-US" b="1" u="sng">
              <a:latin typeface="Times New Roman" panose="02020603050405020304"/>
              <a:ea typeface="Times New Roman" panose="02020603050405020304"/>
              <a:cs typeface="Times New Roman" panose="02020603050405020304"/>
              <a:sym typeface="Times New Roman" panose="02020603050405020304"/>
            </a:endParaRPr>
          </a:p>
        </p:txBody>
      </p:sp>
      <p:pic>
        <p:nvPicPr>
          <p:cNvPr id="174" name="Google Shape;174;g3ce0caf148c_0_33" descr="Thiagarajar College (@ThiagarajarArts) | Twitter"/>
          <p:cNvPicPr preferRelativeResize="0"/>
          <p:nvPr/>
        </p:nvPicPr>
        <p:blipFill rotWithShape="1">
          <a:blip r:embed="rId1"/>
          <a:srcRect/>
          <a:stretch>
            <a:fillRect/>
          </a:stretch>
        </p:blipFill>
        <p:spPr>
          <a:xfrm>
            <a:off x="5807968" y="0"/>
            <a:ext cx="494531" cy="515967"/>
          </a:xfrm>
          <a:prstGeom prst="rect">
            <a:avLst/>
          </a:prstGeom>
          <a:noFill/>
          <a:ln>
            <a:noFill/>
          </a:ln>
        </p:spPr>
      </p:pic>
      <p:sp>
        <p:nvSpPr>
          <p:cNvPr id="9" name="Google Shape;9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smtClean="0"/>
              <a:t>22/07/2026</a:t>
            </a:r>
            <a:endParaRPr dirty="0"/>
          </a:p>
        </p:txBody>
      </p:sp>
      <p:sp>
        <p:nvSpPr>
          <p:cNvPr id="11" name="Google Shape;93;p1"/>
          <p:cNvSpPr txBox="1">
            <a:spLocks noGrp="1"/>
          </p:cNvSpPr>
          <p:nvPr>
            <p:ph type="ftr" idx="11"/>
          </p:nvPr>
        </p:nvSpPr>
        <p:spPr>
          <a:xfrm>
            <a:off x="3863752" y="6356350"/>
            <a:ext cx="5184576" cy="365125"/>
          </a:xfrm>
          <a:prstGeom prst="rect">
            <a:avLst/>
          </a:prstGeom>
          <a:noFill/>
          <a:ln>
            <a:noFill/>
          </a:ln>
        </p:spPr>
        <p:txBody>
          <a:bodyPr spcFirstLastPara="1" wrap="square" lIns="91425" tIns="45700" rIns="91425" bIns="45700" anchor="ctr" anchorCtr="0">
            <a:noAutofit/>
          </a:bodyPr>
          <a:lstStyle/>
          <a:p>
            <a:pPr lvl="0"/>
            <a:r>
              <a:rPr lang="en-US" dirty="0"/>
              <a:t>UCS24PJ51 </a:t>
            </a:r>
            <a:r>
              <a:rPr lang="en-US" dirty="0"/>
              <a:t>Project - </a:t>
            </a:r>
            <a:r>
              <a:rPr lang="en-US" dirty="0" smtClean="0"/>
              <a:t>First</a:t>
            </a:r>
            <a:r>
              <a:rPr lang="en-US" dirty="0" smtClean="0"/>
              <a:t> </a:t>
            </a:r>
            <a:r>
              <a:rPr lang="en-US" dirty="0"/>
              <a:t>Review Presentation </a:t>
            </a:r>
            <a:r>
              <a:rPr lang="en-US" dirty="0" smtClean="0"/>
              <a:t>2026- 2027</a:t>
            </a:r>
            <a:endParaRPr dirty="0"/>
          </a:p>
        </p:txBody>
      </p:sp>
      <p:graphicFrame>
        <p:nvGraphicFramePr>
          <p:cNvPr id="4" name="Table 3"/>
          <p:cNvGraphicFramePr/>
          <p:nvPr>
            <p:custDataLst>
              <p:tags r:id="rId2"/>
            </p:custDataLst>
          </p:nvPr>
        </p:nvGraphicFramePr>
        <p:xfrm>
          <a:off x="819150" y="1619885"/>
          <a:ext cx="10519410" cy="4111625"/>
        </p:xfrm>
        <a:graphic>
          <a:graphicData uri="http://schemas.openxmlformats.org/drawingml/2006/table">
            <a:tbl>
              <a:tblPr/>
              <a:tblGrid>
                <a:gridCol w="3519170"/>
                <a:gridCol w="3500120"/>
                <a:gridCol w="3500120"/>
              </a:tblGrid>
              <a:tr h="587375">
                <a:tc>
                  <a:txBody>
                    <a:bodyPr/>
                    <a:p>
                      <a:pPr algn="ctr"/>
                      <a:endParaRPr lang="en-US" altLang="zh-CN" sz="2000" b="1">
                        <a:effectLst/>
                      </a:endParaRPr>
                    </a:p>
                  </a:txBody>
                  <a:tcPr marL="0" marR="0" marT="0" marB="0" anchor="ctr" anchorCtr="0">
                    <a:lnL>
                      <a:noFill/>
                    </a:lnL>
                    <a:lnR>
                      <a:noFill/>
                    </a:lnR>
                    <a:lnT>
                      <a:noFill/>
                    </a:lnT>
                    <a:lnB>
                      <a:noFill/>
                    </a:lnB>
                    <a:noFill/>
                  </a:tcPr>
                </a:tc>
                <a:tc>
                  <a:txBody>
                    <a:bodyPr/>
                    <a:p>
                      <a:pPr algn="ctr"/>
                      <a:endParaRPr lang="en-US" altLang="zh-CN" sz="1800" b="1">
                        <a:effectLst/>
                      </a:endParaRPr>
                    </a:p>
                  </a:txBody>
                  <a:tcPr marL="0" marR="0" marT="0" marB="0" anchor="ctr" anchorCtr="0">
                    <a:lnL>
                      <a:noFill/>
                    </a:lnL>
                    <a:lnR>
                      <a:noFill/>
                    </a:lnR>
                    <a:lnT>
                      <a:noFill/>
                    </a:lnT>
                    <a:lnB>
                      <a:noFill/>
                    </a:lnB>
                    <a:noFill/>
                  </a:tcPr>
                </a:tc>
                <a:tc>
                  <a:txBody>
                    <a:bodyPr/>
                    <a:p>
                      <a:pPr algn="ctr"/>
                      <a:endParaRPr lang="en-US" altLang="zh-CN" sz="1800" b="1">
                        <a:effectLst/>
                      </a:endParaRPr>
                    </a:p>
                  </a:txBody>
                  <a:tcPr marL="0" marR="0" marT="0" marB="0" anchor="ctr" anchorCtr="0">
                    <a:lnL>
                      <a:noFill/>
                    </a:lnL>
                    <a:lnR>
                      <a:noFill/>
                    </a:lnR>
                    <a:lnT>
                      <a:noFill/>
                    </a:lnT>
                    <a:lnB>
                      <a:noFill/>
                    </a:lnB>
                    <a:noFill/>
                  </a:tcPr>
                </a:tc>
              </a:tr>
              <a:tr h="587375">
                <a:tc>
                  <a:txBody>
                    <a:bodyPr/>
                    <a:p>
                      <a:pPr algn="ctr"/>
                      <a:endParaRPr lang="en-US" altLang="zh-CN" sz="1800">
                        <a:effectLst/>
                      </a:endParaRPr>
                    </a:p>
                  </a:txBody>
                  <a:tcPr marL="0" marR="0" marT="0" marB="0" anchor="ctr" anchorCtr="0">
                    <a:lnL>
                      <a:noFill/>
                    </a:lnL>
                    <a:lnR>
                      <a:noFill/>
                    </a:lnR>
                    <a:lnT>
                      <a:noFill/>
                    </a:lnT>
                    <a:lnB>
                      <a:noFill/>
                    </a:lnB>
                    <a:noFill/>
                  </a:tcPr>
                </a:tc>
                <a:tc>
                  <a:txBody>
                    <a:bodyPr/>
                    <a:p>
                      <a:pPr algn="ctr"/>
                      <a:endParaRPr lang="en-US" altLang="zh-CN" sz="1800">
                        <a:effectLst/>
                      </a:endParaRPr>
                    </a:p>
                  </a:txBody>
                  <a:tcPr marL="0" marR="0" marT="0" marB="0" anchor="ctr" anchorCtr="0">
                    <a:lnL>
                      <a:noFill/>
                    </a:lnL>
                    <a:lnR>
                      <a:noFill/>
                    </a:lnR>
                    <a:lnT>
                      <a:noFill/>
                    </a:lnT>
                    <a:lnB>
                      <a:noFill/>
                    </a:lnB>
                    <a:noFill/>
                  </a:tcPr>
                </a:tc>
                <a:tc>
                  <a:txBody>
                    <a:bodyPr/>
                    <a:p>
                      <a:pPr algn="ctr"/>
                      <a:endParaRPr lang="en-US" altLang="zh-CN" sz="1800">
                        <a:effectLst/>
                      </a:endParaRPr>
                    </a:p>
                  </a:txBody>
                  <a:tcPr marL="0" marR="0" marT="0" marB="0" anchor="ctr" anchorCtr="0">
                    <a:lnL>
                      <a:noFill/>
                    </a:lnL>
                    <a:lnR>
                      <a:noFill/>
                    </a:lnR>
                    <a:lnT>
                      <a:noFill/>
                    </a:lnT>
                    <a:lnB>
                      <a:noFill/>
                    </a:lnB>
                    <a:noFill/>
                  </a:tcPr>
                </a:tc>
              </a:tr>
              <a:tr h="587375">
                <a:tc>
                  <a:txBody>
                    <a:bodyPr/>
                    <a:p>
                      <a:pPr algn="ctr"/>
                      <a:endParaRPr lang="en-US" altLang="zh-CN" sz="1800">
                        <a:effectLst/>
                      </a:endParaRPr>
                    </a:p>
                  </a:txBody>
                  <a:tcPr marL="0" marR="0" marT="0" marB="0" anchor="ctr" anchorCtr="0">
                    <a:lnL>
                      <a:noFill/>
                    </a:lnL>
                    <a:lnR>
                      <a:noFill/>
                    </a:lnR>
                    <a:lnT>
                      <a:noFill/>
                    </a:lnT>
                    <a:lnB>
                      <a:noFill/>
                    </a:lnB>
                    <a:noFill/>
                  </a:tcPr>
                </a:tc>
                <a:tc>
                  <a:txBody>
                    <a:bodyPr/>
                    <a:p>
                      <a:pPr algn="ctr"/>
                      <a:endParaRPr lang="en-US" altLang="zh-CN" sz="1800">
                        <a:effectLst/>
                      </a:endParaRPr>
                    </a:p>
                  </a:txBody>
                  <a:tcPr marL="0" marR="0" marT="0" marB="0" anchor="ctr" anchorCtr="0">
                    <a:lnL>
                      <a:noFill/>
                    </a:lnL>
                    <a:lnR>
                      <a:noFill/>
                    </a:lnR>
                    <a:lnT>
                      <a:noFill/>
                    </a:lnT>
                    <a:lnB>
                      <a:noFill/>
                    </a:lnB>
                    <a:noFill/>
                  </a:tcPr>
                </a:tc>
                <a:tc>
                  <a:txBody>
                    <a:bodyPr/>
                    <a:p>
                      <a:pPr algn="ctr"/>
                      <a:endParaRPr lang="en-US" altLang="zh-CN" sz="1800">
                        <a:effectLst/>
                      </a:endParaRPr>
                    </a:p>
                  </a:txBody>
                  <a:tcPr marL="0" marR="0" marT="0" marB="0" anchor="ctr" anchorCtr="0">
                    <a:lnL>
                      <a:noFill/>
                    </a:lnL>
                    <a:lnR>
                      <a:noFill/>
                    </a:lnR>
                    <a:lnT>
                      <a:noFill/>
                    </a:lnT>
                    <a:lnB>
                      <a:noFill/>
                    </a:lnB>
                    <a:noFill/>
                  </a:tcPr>
                </a:tc>
              </a:tr>
              <a:tr h="587375">
                <a:tc>
                  <a:txBody>
                    <a:bodyPr/>
                    <a:p>
                      <a:pPr algn="ctr"/>
                      <a:endParaRPr lang="en-US" altLang="zh-CN" sz="1800">
                        <a:effectLst/>
                      </a:endParaRPr>
                    </a:p>
                  </a:txBody>
                  <a:tcPr marL="0" marR="0" marT="0" marB="0" anchor="ctr" anchorCtr="0">
                    <a:lnL>
                      <a:noFill/>
                    </a:lnL>
                    <a:lnR>
                      <a:noFill/>
                    </a:lnR>
                    <a:lnT>
                      <a:noFill/>
                    </a:lnT>
                    <a:lnB>
                      <a:noFill/>
                    </a:lnB>
                    <a:noFill/>
                  </a:tcPr>
                </a:tc>
                <a:tc>
                  <a:txBody>
                    <a:bodyPr/>
                    <a:p>
                      <a:pPr algn="ctr"/>
                      <a:endParaRPr lang="en-US" altLang="zh-CN" sz="1800">
                        <a:effectLst/>
                      </a:endParaRPr>
                    </a:p>
                  </a:txBody>
                  <a:tcPr marL="0" marR="0" marT="0" marB="0" anchor="ctr" anchorCtr="0">
                    <a:lnL>
                      <a:noFill/>
                    </a:lnL>
                    <a:lnR>
                      <a:noFill/>
                    </a:lnR>
                    <a:lnT>
                      <a:noFill/>
                    </a:lnT>
                    <a:lnB>
                      <a:noFill/>
                    </a:lnB>
                    <a:noFill/>
                  </a:tcPr>
                </a:tc>
                <a:tc>
                  <a:txBody>
                    <a:bodyPr/>
                    <a:p>
                      <a:pPr algn="ctr"/>
                      <a:endParaRPr lang="en-US" altLang="zh-CN" sz="1800">
                        <a:effectLst/>
                      </a:endParaRPr>
                    </a:p>
                  </a:txBody>
                  <a:tcPr marL="0" marR="0" marT="0" marB="0" anchor="ctr" anchorCtr="0">
                    <a:lnL>
                      <a:noFill/>
                    </a:lnL>
                    <a:lnR>
                      <a:noFill/>
                    </a:lnR>
                    <a:lnT>
                      <a:noFill/>
                    </a:lnT>
                    <a:lnB>
                      <a:noFill/>
                    </a:lnB>
                    <a:noFill/>
                  </a:tcPr>
                </a:tc>
              </a:tr>
              <a:tr h="587375">
                <a:tc>
                  <a:txBody>
                    <a:bodyPr/>
                    <a:p>
                      <a:pPr algn="ctr"/>
                      <a:endParaRPr lang="en-US" altLang="zh-CN" sz="1800">
                        <a:effectLst/>
                      </a:endParaRPr>
                    </a:p>
                  </a:txBody>
                  <a:tcPr marL="0" marR="0" marT="0" marB="0" anchor="ctr" anchorCtr="0">
                    <a:lnL>
                      <a:noFill/>
                    </a:lnL>
                    <a:lnR>
                      <a:noFill/>
                    </a:lnR>
                    <a:lnT>
                      <a:noFill/>
                    </a:lnT>
                    <a:lnB>
                      <a:noFill/>
                    </a:lnB>
                    <a:noFill/>
                  </a:tcPr>
                </a:tc>
                <a:tc>
                  <a:txBody>
                    <a:bodyPr/>
                    <a:p>
                      <a:pPr algn="ctr"/>
                      <a:endParaRPr lang="en-US" altLang="zh-CN" sz="1800">
                        <a:effectLst/>
                      </a:endParaRPr>
                    </a:p>
                  </a:txBody>
                  <a:tcPr marL="0" marR="0" marT="0" marB="0" anchor="ctr" anchorCtr="0">
                    <a:lnL>
                      <a:noFill/>
                    </a:lnL>
                    <a:lnR>
                      <a:noFill/>
                    </a:lnR>
                    <a:lnT>
                      <a:noFill/>
                    </a:lnT>
                    <a:lnB>
                      <a:noFill/>
                    </a:lnB>
                    <a:noFill/>
                  </a:tcPr>
                </a:tc>
                <a:tc>
                  <a:txBody>
                    <a:bodyPr/>
                    <a:p>
                      <a:pPr algn="ctr"/>
                      <a:endParaRPr lang="en-US" altLang="zh-CN" sz="1800">
                        <a:effectLst/>
                      </a:endParaRPr>
                    </a:p>
                  </a:txBody>
                  <a:tcPr marL="0" marR="0" marT="0" marB="0" anchor="ctr" anchorCtr="0">
                    <a:lnL>
                      <a:noFill/>
                    </a:lnL>
                    <a:lnR>
                      <a:noFill/>
                    </a:lnR>
                    <a:lnT>
                      <a:noFill/>
                    </a:lnT>
                    <a:lnB>
                      <a:noFill/>
                    </a:lnB>
                    <a:noFill/>
                  </a:tcPr>
                </a:tc>
              </a:tr>
              <a:tr h="587375">
                <a:tc>
                  <a:txBody>
                    <a:bodyPr/>
                    <a:p>
                      <a:pPr algn="ctr"/>
                      <a:endParaRPr lang="en-US" altLang="zh-CN" sz="1800">
                        <a:effectLst/>
                      </a:endParaRPr>
                    </a:p>
                  </a:txBody>
                  <a:tcPr marL="0" marR="0" marT="0" marB="0" anchor="ctr" anchorCtr="0">
                    <a:lnL>
                      <a:noFill/>
                    </a:lnL>
                    <a:lnR>
                      <a:noFill/>
                    </a:lnR>
                    <a:lnT>
                      <a:noFill/>
                    </a:lnT>
                    <a:lnB>
                      <a:noFill/>
                    </a:lnB>
                    <a:noFill/>
                  </a:tcPr>
                </a:tc>
                <a:tc>
                  <a:txBody>
                    <a:bodyPr/>
                    <a:p>
                      <a:pPr algn="ctr"/>
                      <a:endParaRPr lang="en-US" altLang="zh-CN" sz="1800">
                        <a:effectLst/>
                      </a:endParaRPr>
                    </a:p>
                  </a:txBody>
                  <a:tcPr marL="0" marR="0" marT="0" marB="0" anchor="ctr" anchorCtr="0">
                    <a:lnL>
                      <a:noFill/>
                    </a:lnL>
                    <a:lnR>
                      <a:noFill/>
                    </a:lnR>
                    <a:lnT>
                      <a:noFill/>
                    </a:lnT>
                    <a:lnB>
                      <a:noFill/>
                    </a:lnB>
                    <a:noFill/>
                  </a:tcPr>
                </a:tc>
                <a:tc>
                  <a:txBody>
                    <a:bodyPr/>
                    <a:p>
                      <a:pPr algn="ctr"/>
                      <a:endParaRPr lang="en-US" altLang="zh-CN" sz="1800">
                        <a:effectLst/>
                      </a:endParaRPr>
                    </a:p>
                  </a:txBody>
                  <a:tcPr marL="0" marR="0" marT="0" marB="0" anchor="ctr" anchorCtr="0">
                    <a:lnL>
                      <a:noFill/>
                    </a:lnL>
                    <a:lnR>
                      <a:noFill/>
                    </a:lnR>
                    <a:lnT>
                      <a:noFill/>
                    </a:lnT>
                    <a:lnB>
                      <a:noFill/>
                    </a:lnB>
                    <a:noFill/>
                  </a:tcPr>
                </a:tc>
              </a:tr>
              <a:tr h="587375">
                <a:tc>
                  <a:txBody>
                    <a:bodyPr/>
                    <a:p>
                      <a:pPr algn="ctr"/>
                      <a:endParaRPr lang="en-US" altLang="zh-CN" sz="1800">
                        <a:effectLst/>
                      </a:endParaRPr>
                    </a:p>
                  </a:txBody>
                  <a:tcPr marL="0" marR="0" marT="0" marB="0" anchor="ctr" anchorCtr="0">
                    <a:lnL>
                      <a:noFill/>
                    </a:lnL>
                    <a:lnR>
                      <a:noFill/>
                    </a:lnR>
                    <a:lnT>
                      <a:noFill/>
                    </a:lnT>
                    <a:lnB>
                      <a:noFill/>
                    </a:lnB>
                    <a:noFill/>
                  </a:tcPr>
                </a:tc>
                <a:tc>
                  <a:txBody>
                    <a:bodyPr/>
                    <a:p>
                      <a:pPr algn="ctr"/>
                      <a:endParaRPr lang="en-US" altLang="zh-CN" sz="1800">
                        <a:effectLst/>
                      </a:endParaRPr>
                    </a:p>
                  </a:txBody>
                  <a:tcPr marL="0" marR="0" marT="0" marB="0" anchor="ctr" anchorCtr="0">
                    <a:lnL>
                      <a:noFill/>
                    </a:lnL>
                    <a:lnR>
                      <a:noFill/>
                    </a:lnR>
                    <a:lnT>
                      <a:noFill/>
                    </a:lnT>
                    <a:lnB>
                      <a:noFill/>
                    </a:lnB>
                    <a:noFill/>
                  </a:tcPr>
                </a:tc>
                <a:tc>
                  <a:txBody>
                    <a:bodyPr/>
                    <a:p>
                      <a:pPr algn="ctr"/>
                      <a:endParaRPr lang="en-US" altLang="zh-CN" sz="1800">
                        <a:effectLst/>
                      </a:endParaRPr>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3"/>
            </p:custDataLst>
          </p:nvPr>
        </p:nvGraphicFramePr>
        <p:xfrm>
          <a:off x="952500" y="1508125"/>
          <a:ext cx="10363200" cy="4709160"/>
        </p:xfrm>
        <a:graphic>
          <a:graphicData uri="http://schemas.openxmlformats.org/drawingml/2006/table">
            <a:tbl>
              <a:tblPr firstRow="1" bandRow="1">
                <a:tableStyleId>{5C22544A-7EE6-4342-B048-85BDC9FD1C3A}</a:tableStyleId>
              </a:tblPr>
              <a:tblGrid>
                <a:gridCol w="3505200"/>
                <a:gridCol w="3448050"/>
                <a:gridCol w="3409950"/>
              </a:tblGrid>
              <a:tr h="720090">
                <a:tc>
                  <a:txBody>
                    <a:bodyPr/>
                    <a:p>
                      <a:pPr algn="ctr"/>
                      <a:r>
                        <a:rPr lang="en-US" altLang="zh-CN" sz="2000" b="1">
                          <a:solidFill>
                            <a:schemeClr val="bg2"/>
                          </a:solidFill>
                          <a:effectLst/>
                        </a:rPr>
                        <a:t>Parameter</a:t>
                      </a:r>
                      <a:endParaRPr lang="en-US" altLang="zh-CN" sz="2000" b="1">
                        <a:solidFill>
                          <a:schemeClr val="bg2"/>
                        </a:solidFill>
                        <a:effectLst/>
                      </a:endParaRPr>
                    </a:p>
                  </a:txBody>
                  <a:tcPr marL="0" marR="0" marT="0" marB="0" anchor="ctr" anchorCtr="0">
                    <a:solidFill>
                      <a:schemeClr val="accent1">
                        <a:lumMod val="40000"/>
                        <a:lumOff val="60000"/>
                      </a:schemeClr>
                    </a:solidFill>
                  </a:tcPr>
                </a:tc>
                <a:tc>
                  <a:txBody>
                    <a:bodyPr/>
                    <a:p>
                      <a:pPr algn="ctr"/>
                      <a:r>
                        <a:rPr lang="en-US" altLang="zh-CN" sz="1800" b="1">
                          <a:solidFill>
                            <a:schemeClr val="tx1"/>
                          </a:solidFill>
                          <a:effectLst/>
                        </a:rPr>
                        <a:t>Existing System</a:t>
                      </a:r>
                      <a:endParaRPr lang="en-US" altLang="zh-CN" sz="1800" b="1">
                        <a:solidFill>
                          <a:schemeClr val="tx1"/>
                        </a:solidFill>
                        <a:effectLst/>
                      </a:endParaRPr>
                    </a:p>
                  </a:txBody>
                  <a:tcPr marL="0" marR="0" marT="0" marB="0" anchor="ctr" anchorCtr="0">
                    <a:solidFill>
                      <a:schemeClr val="accent1">
                        <a:lumMod val="40000"/>
                        <a:lumOff val="60000"/>
                      </a:schemeClr>
                    </a:solidFill>
                  </a:tcPr>
                </a:tc>
                <a:tc>
                  <a:txBody>
                    <a:bodyPr/>
                    <a:p>
                      <a:pPr algn="ctr"/>
                      <a:r>
                        <a:rPr lang="en-US" altLang="zh-CN" sz="1800" b="1">
                          <a:solidFill>
                            <a:schemeClr val="tx1"/>
                          </a:solidFill>
                          <a:effectLst/>
                        </a:rPr>
                        <a:t>BOOKZEN </a:t>
                      </a:r>
                      <a:endParaRPr lang="en-US" altLang="zh-CN" sz="1800" b="1">
                        <a:solidFill>
                          <a:schemeClr val="tx1"/>
                        </a:solidFill>
                        <a:effectLst/>
                      </a:endParaRPr>
                    </a:p>
                    <a:p>
                      <a:pPr algn="ctr"/>
                      <a:r>
                        <a:rPr lang="en-US" altLang="zh-CN" sz="1800" b="1">
                          <a:solidFill>
                            <a:schemeClr val="tx1"/>
                          </a:solidFill>
                          <a:effectLst/>
                        </a:rPr>
                        <a:t>(Proposed System)</a:t>
                      </a:r>
                      <a:endParaRPr lang="en-US" altLang="zh-CN" sz="1800" b="1">
                        <a:solidFill>
                          <a:schemeClr val="tx1"/>
                        </a:solidFill>
                        <a:effectLst/>
                      </a:endParaRPr>
                    </a:p>
                  </a:txBody>
                  <a:tcPr marL="0" marR="0" marT="0" marB="0" anchor="ctr" anchorCtr="0">
                    <a:solidFill>
                      <a:schemeClr val="accent1">
                        <a:lumMod val="40000"/>
                        <a:lumOff val="60000"/>
                      </a:schemeClr>
                    </a:solidFill>
                  </a:tcPr>
                </a:tc>
              </a:tr>
              <a:tr h="662940">
                <a:tc>
                  <a:txBody>
                    <a:bodyPr/>
                    <a:p>
                      <a:pPr algn="ctr"/>
                      <a:r>
                        <a:rPr lang="en-US" altLang="zh-CN" sz="1800">
                          <a:effectLst/>
                        </a:rPr>
                        <a:t>Time to Find a Book</a:t>
                      </a:r>
                      <a:endParaRPr lang="en-US" altLang="zh-CN" sz="1800">
                        <a:effectLst/>
                      </a:endParaRPr>
                    </a:p>
                  </a:txBody>
                  <a:tcPr marL="0" marR="0" marT="0" marB="0" anchor="ctr" anchorCtr="0">
                    <a:solidFill>
                      <a:schemeClr val="accent1">
                        <a:lumMod val="20000"/>
                        <a:lumOff val="80000"/>
                      </a:schemeClr>
                    </a:solidFill>
                  </a:tcPr>
                </a:tc>
                <a:tc>
                  <a:txBody>
                    <a:bodyPr/>
                    <a:p>
                      <a:pPr algn="ctr"/>
                      <a:r>
                        <a:rPr lang="en-US" altLang="zh-CN" sz="1800">
                          <a:effectLst/>
                        </a:rPr>
                        <a:t>High</a:t>
                      </a:r>
                      <a:endParaRPr lang="en-US" altLang="zh-CN" sz="1800">
                        <a:effectLst/>
                      </a:endParaRPr>
                    </a:p>
                  </a:txBody>
                  <a:tcPr marL="0" marR="0" marT="0" marB="0" anchor="ctr" anchorCtr="0">
                    <a:solidFill>
                      <a:schemeClr val="accent1">
                        <a:lumMod val="20000"/>
                        <a:lumOff val="80000"/>
                      </a:schemeClr>
                    </a:solidFill>
                  </a:tcPr>
                </a:tc>
                <a:tc>
                  <a:txBody>
                    <a:bodyPr/>
                    <a:p>
                      <a:pPr algn="ctr"/>
                      <a:r>
                        <a:rPr lang="en-US" altLang="zh-CN" sz="1800">
                          <a:effectLst/>
                        </a:rPr>
                        <a:t>Low</a:t>
                      </a:r>
                      <a:endParaRPr lang="en-US" altLang="zh-CN" sz="1800">
                        <a:effectLst/>
                      </a:endParaRPr>
                    </a:p>
                  </a:txBody>
                  <a:tcPr marL="0" marR="0" marT="0" marB="0" anchor="ctr" anchorCtr="0">
                    <a:solidFill>
                      <a:schemeClr val="accent1">
                        <a:lumMod val="20000"/>
                        <a:lumOff val="80000"/>
                      </a:schemeClr>
                    </a:solidFill>
                  </a:tcPr>
                </a:tc>
              </a:tr>
              <a:tr h="643890">
                <a:tc>
                  <a:txBody>
                    <a:bodyPr/>
                    <a:p>
                      <a:pPr algn="ctr"/>
                      <a:r>
                        <a:rPr lang="en-US" altLang="zh-CN" sz="1800">
                          <a:effectLst/>
                        </a:rPr>
                        <a:t>Cost</a:t>
                      </a:r>
                      <a:endParaRPr lang="en-US" altLang="zh-CN" sz="1800">
                        <a:effectLst/>
                      </a:endParaRPr>
                    </a:p>
                  </a:txBody>
                  <a:tcPr marL="0" marR="0" marT="0" marB="0" anchor="ctr" anchorCtr="0">
                    <a:solidFill>
                      <a:schemeClr val="accent1">
                        <a:lumMod val="20000"/>
                        <a:lumOff val="80000"/>
                      </a:schemeClr>
                    </a:solidFill>
                  </a:tcPr>
                </a:tc>
                <a:tc>
                  <a:txBody>
                    <a:bodyPr/>
                    <a:p>
                      <a:pPr algn="ctr"/>
                      <a:r>
                        <a:rPr lang="en-US" altLang="zh-CN" sz="1800">
                          <a:effectLst/>
                        </a:rPr>
                        <a:t>High</a:t>
                      </a:r>
                      <a:endParaRPr lang="en-US" altLang="zh-CN" sz="1800">
                        <a:effectLst/>
                      </a:endParaRPr>
                    </a:p>
                  </a:txBody>
                  <a:tcPr marL="0" marR="0" marT="0" marB="0" anchor="ctr" anchorCtr="0">
                    <a:solidFill>
                      <a:schemeClr val="accent1">
                        <a:lumMod val="20000"/>
                        <a:lumOff val="80000"/>
                      </a:schemeClr>
                    </a:solidFill>
                  </a:tcPr>
                </a:tc>
                <a:tc>
                  <a:txBody>
                    <a:bodyPr/>
                    <a:p>
                      <a:pPr algn="ctr"/>
                      <a:r>
                        <a:rPr lang="en-US" altLang="zh-CN" sz="1800">
                          <a:effectLst/>
                        </a:rPr>
                        <a:t>Affordable</a:t>
                      </a:r>
                      <a:endParaRPr lang="en-US" altLang="zh-CN" sz="1800">
                        <a:effectLst/>
                      </a:endParaRPr>
                    </a:p>
                  </a:txBody>
                  <a:tcPr marL="0" marR="0" marT="0" marB="0" anchor="ctr" anchorCtr="0">
                    <a:solidFill>
                      <a:schemeClr val="accent1">
                        <a:lumMod val="20000"/>
                        <a:lumOff val="80000"/>
                      </a:schemeClr>
                    </a:solidFill>
                  </a:tcPr>
                </a:tc>
              </a:tr>
              <a:tr h="681990">
                <a:tc>
                  <a:txBody>
                    <a:bodyPr/>
                    <a:p>
                      <a:pPr algn="ctr"/>
                      <a:r>
                        <a:rPr lang="en-US" altLang="zh-CN" sz="1800">
                          <a:effectLst/>
                        </a:rPr>
                        <a:t>Search Method</a:t>
                      </a:r>
                      <a:endParaRPr lang="en-US" altLang="zh-CN" sz="1800">
                        <a:effectLst/>
                      </a:endParaRPr>
                    </a:p>
                  </a:txBody>
                  <a:tcPr marL="0" marR="0" marT="0" marB="0" anchor="ctr" anchorCtr="0">
                    <a:solidFill>
                      <a:schemeClr val="accent1">
                        <a:lumMod val="20000"/>
                        <a:lumOff val="80000"/>
                      </a:schemeClr>
                    </a:solidFill>
                  </a:tcPr>
                </a:tc>
                <a:tc>
                  <a:txBody>
                    <a:bodyPr/>
                    <a:p>
                      <a:pPr algn="ctr"/>
                      <a:r>
                        <a:rPr lang="en-US" altLang="zh-CN" sz="1800">
                          <a:effectLst/>
                        </a:rPr>
                        <a:t>Manual</a:t>
                      </a:r>
                      <a:endParaRPr lang="en-US" altLang="zh-CN" sz="1800">
                        <a:effectLst/>
                      </a:endParaRPr>
                    </a:p>
                  </a:txBody>
                  <a:tcPr marL="0" marR="0" marT="0" marB="0" anchor="ctr" anchorCtr="0">
                    <a:solidFill>
                      <a:schemeClr val="accent1">
                        <a:lumMod val="20000"/>
                        <a:lumOff val="80000"/>
                      </a:schemeClr>
                    </a:solidFill>
                  </a:tcPr>
                </a:tc>
                <a:tc>
                  <a:txBody>
                    <a:bodyPr/>
                    <a:p>
                      <a:pPr algn="ctr"/>
                      <a:r>
                        <a:rPr lang="en-US" altLang="zh-CN" sz="1800">
                          <a:effectLst/>
                        </a:rPr>
                        <a:t>Online Search</a:t>
                      </a:r>
                      <a:endParaRPr lang="en-US" altLang="zh-CN" sz="1800">
                        <a:effectLst/>
                      </a:endParaRPr>
                    </a:p>
                  </a:txBody>
                  <a:tcPr marL="0" marR="0" marT="0" marB="0" anchor="ctr" anchorCtr="0">
                    <a:solidFill>
                      <a:schemeClr val="accent1">
                        <a:lumMod val="20000"/>
                        <a:lumOff val="80000"/>
                      </a:schemeClr>
                    </a:solidFill>
                  </a:tcPr>
                </a:tc>
              </a:tr>
              <a:tr h="605790">
                <a:tc>
                  <a:txBody>
                    <a:bodyPr/>
                    <a:p>
                      <a:pPr algn="ctr"/>
                      <a:r>
                        <a:rPr lang="en-US" altLang="zh-CN" sz="1800">
                          <a:effectLst/>
                        </a:rPr>
                        <a:t>Seller Reach</a:t>
                      </a:r>
                      <a:endParaRPr lang="en-US" altLang="zh-CN" sz="1800">
                        <a:effectLst/>
                      </a:endParaRPr>
                    </a:p>
                  </a:txBody>
                  <a:tcPr marL="0" marR="0" marT="0" marB="0" anchor="ctr" anchorCtr="0">
                    <a:solidFill>
                      <a:schemeClr val="accent1">
                        <a:lumMod val="20000"/>
                        <a:lumOff val="80000"/>
                      </a:schemeClr>
                    </a:solidFill>
                  </a:tcPr>
                </a:tc>
                <a:tc>
                  <a:txBody>
                    <a:bodyPr/>
                    <a:p>
                      <a:pPr algn="ctr"/>
                      <a:r>
                        <a:rPr lang="en-US" altLang="zh-CN" sz="1800">
                          <a:effectLst/>
                        </a:rPr>
                        <a:t>Limited</a:t>
                      </a:r>
                      <a:endParaRPr lang="en-US" altLang="zh-CN" sz="1800">
                        <a:effectLst/>
                      </a:endParaRPr>
                    </a:p>
                  </a:txBody>
                  <a:tcPr marL="0" marR="0" marT="0" marB="0" anchor="ctr" anchorCtr="0">
                    <a:solidFill>
                      <a:schemeClr val="accent1">
                        <a:lumMod val="20000"/>
                        <a:lumOff val="80000"/>
                      </a:schemeClr>
                    </a:solidFill>
                  </a:tcPr>
                </a:tc>
                <a:tc>
                  <a:txBody>
                    <a:bodyPr/>
                    <a:p>
                      <a:pPr algn="ctr"/>
                      <a:r>
                        <a:rPr lang="en-US" altLang="zh-CN" sz="1800">
                          <a:effectLst/>
                        </a:rPr>
                        <a:t>Wide</a:t>
                      </a:r>
                      <a:endParaRPr lang="en-US" altLang="zh-CN" sz="1800">
                        <a:effectLst/>
                      </a:endParaRPr>
                    </a:p>
                  </a:txBody>
                  <a:tcPr marL="0" marR="0" marT="0" marB="0" anchor="ctr" anchorCtr="0">
                    <a:solidFill>
                      <a:schemeClr val="accent1">
                        <a:lumMod val="20000"/>
                        <a:lumOff val="80000"/>
                      </a:schemeClr>
                    </a:solidFill>
                  </a:tcPr>
                </a:tc>
              </a:tr>
              <a:tr h="674370">
                <a:tc>
                  <a:txBody>
                    <a:bodyPr/>
                    <a:p>
                      <a:pPr algn="ctr"/>
                      <a:r>
                        <a:rPr lang="en-US" altLang="zh-CN" sz="1800">
                          <a:effectLst/>
                        </a:rPr>
                        <a:t>Order Tracking</a:t>
                      </a:r>
                      <a:endParaRPr lang="en-US" altLang="zh-CN" sz="1800">
                        <a:effectLst/>
                      </a:endParaRPr>
                    </a:p>
                  </a:txBody>
                  <a:tcPr marL="0" marR="0" marT="0" marB="0" anchor="ctr" anchorCtr="0">
                    <a:solidFill>
                      <a:schemeClr val="accent1">
                        <a:lumMod val="20000"/>
                        <a:lumOff val="80000"/>
                      </a:schemeClr>
                    </a:solidFill>
                  </a:tcPr>
                </a:tc>
                <a:tc>
                  <a:txBody>
                    <a:bodyPr/>
                    <a:p>
                      <a:pPr algn="ctr"/>
                      <a:r>
                        <a:rPr lang="en-US" altLang="zh-CN" sz="1800">
                          <a:effectLst/>
                        </a:rPr>
                        <a:t>Not Available</a:t>
                      </a:r>
                      <a:endParaRPr lang="en-US" altLang="zh-CN" sz="1800">
                        <a:effectLst/>
                      </a:endParaRPr>
                    </a:p>
                  </a:txBody>
                  <a:tcPr marL="0" marR="0" marT="0" marB="0" anchor="ctr" anchorCtr="0">
                    <a:solidFill>
                      <a:schemeClr val="accent1">
                        <a:lumMod val="20000"/>
                        <a:lumOff val="80000"/>
                      </a:schemeClr>
                    </a:solidFill>
                  </a:tcPr>
                </a:tc>
                <a:tc>
                  <a:txBody>
                    <a:bodyPr/>
                    <a:p>
                      <a:pPr algn="ctr"/>
                      <a:r>
                        <a:rPr lang="en-US" altLang="zh-CN" sz="1800">
                          <a:effectLst/>
                        </a:rPr>
                        <a:t>Available</a:t>
                      </a:r>
                      <a:endParaRPr lang="en-US" altLang="zh-CN" sz="1800">
                        <a:effectLst/>
                      </a:endParaRPr>
                    </a:p>
                  </a:txBody>
                  <a:tcPr marL="0" marR="0" marT="0" marB="0" anchor="ctr" anchorCtr="0">
                    <a:solidFill>
                      <a:schemeClr val="accent1">
                        <a:lumMod val="20000"/>
                        <a:lumOff val="80000"/>
                      </a:schemeClr>
                    </a:solidFill>
                  </a:tcPr>
                </a:tc>
              </a:tr>
              <a:tr h="720090">
                <a:tc>
                  <a:txBody>
                    <a:bodyPr/>
                    <a:p>
                      <a:pPr algn="ctr"/>
                      <a:r>
                        <a:rPr lang="en-US" altLang="zh-CN" sz="1800">
                          <a:effectLst/>
                        </a:rPr>
                        <a:t>User Convenience</a:t>
                      </a:r>
                      <a:endParaRPr lang="en-US" altLang="zh-CN" sz="1800">
                        <a:effectLst/>
                      </a:endParaRPr>
                    </a:p>
                  </a:txBody>
                  <a:tcPr marL="0" marR="0" marT="0" marB="0" anchor="ctr" anchorCtr="0">
                    <a:solidFill>
                      <a:schemeClr val="accent1">
                        <a:lumMod val="20000"/>
                        <a:lumOff val="80000"/>
                      </a:schemeClr>
                    </a:solidFill>
                  </a:tcPr>
                </a:tc>
                <a:tc>
                  <a:txBody>
                    <a:bodyPr/>
                    <a:p>
                      <a:pPr algn="ctr"/>
                      <a:r>
                        <a:rPr lang="en-US" altLang="zh-CN" sz="1800">
                          <a:effectLst/>
                        </a:rPr>
                        <a:t>Low</a:t>
                      </a:r>
                      <a:endParaRPr lang="en-US" altLang="zh-CN" sz="1800">
                        <a:effectLst/>
                      </a:endParaRPr>
                    </a:p>
                  </a:txBody>
                  <a:tcPr marL="0" marR="0" marT="0" marB="0" anchor="ctr" anchorCtr="0">
                    <a:solidFill>
                      <a:schemeClr val="accent1">
                        <a:lumMod val="20000"/>
                        <a:lumOff val="80000"/>
                      </a:schemeClr>
                    </a:solidFill>
                  </a:tcPr>
                </a:tc>
                <a:tc>
                  <a:txBody>
                    <a:bodyPr/>
                    <a:p>
                      <a:pPr algn="ctr"/>
                      <a:r>
                        <a:rPr lang="en-US" altLang="zh-CN" sz="1800">
                          <a:effectLst/>
                        </a:rPr>
                        <a:t>High</a:t>
                      </a:r>
                      <a:endParaRPr lang="en-US" altLang="zh-CN" sz="1800">
                        <a:effectLst/>
                      </a:endParaRPr>
                    </a:p>
                  </a:txBody>
                  <a:tcPr marL="0" marR="0" marT="0" marB="0" anchor="ctr" anchorCtr="0">
                    <a:solidFill>
                      <a:schemeClr val="accent1">
                        <a:lumMod val="20000"/>
                        <a:lumOff val="80000"/>
                      </a:schemeClr>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g3ce0caf148c_0_4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84" name="Google Shape;184;g3ce0caf148c_0_49"/>
          <p:cNvSpPr txBox="1">
            <a:spLocks noGrp="1"/>
          </p:cNvSpPr>
          <p:nvPr>
            <p:ph type="title"/>
          </p:nvPr>
        </p:nvSpPr>
        <p:spPr>
          <a:xfrm>
            <a:off x="838200" y="650875"/>
            <a:ext cx="10515600" cy="992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u="sng" dirty="0">
                <a:latin typeface="Times New Roman" panose="02020603050405020304"/>
                <a:ea typeface="Times New Roman" panose="02020603050405020304"/>
                <a:cs typeface="Times New Roman" panose="02020603050405020304"/>
                <a:sym typeface="Times New Roman" panose="02020603050405020304"/>
              </a:rPr>
              <a:t>CONCLUSION </a:t>
            </a:r>
            <a:endParaRPr dirty="0"/>
          </a:p>
        </p:txBody>
      </p:sp>
      <p:pic>
        <p:nvPicPr>
          <p:cNvPr id="185" name="Google Shape;185;g3ce0caf148c_0_49" descr="Thiagarajar College (@ThiagarajarArts) | Twitter"/>
          <p:cNvPicPr preferRelativeResize="0"/>
          <p:nvPr/>
        </p:nvPicPr>
        <p:blipFill rotWithShape="1">
          <a:blip r:embed="rId1"/>
          <a:srcRect/>
          <a:stretch>
            <a:fillRect/>
          </a:stretch>
        </p:blipFill>
        <p:spPr>
          <a:xfrm>
            <a:off x="5807968" y="0"/>
            <a:ext cx="494531" cy="515967"/>
          </a:xfrm>
          <a:prstGeom prst="rect">
            <a:avLst/>
          </a:prstGeom>
          <a:noFill/>
          <a:ln>
            <a:noFill/>
          </a:ln>
        </p:spPr>
      </p:pic>
      <p:sp>
        <p:nvSpPr>
          <p:cNvPr id="9" name="Google Shape;9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smtClean="0"/>
              <a:t>22/07/2026</a:t>
            </a:r>
            <a:endParaRPr dirty="0"/>
          </a:p>
        </p:txBody>
      </p:sp>
      <p:sp>
        <p:nvSpPr>
          <p:cNvPr id="10" name="Google Shape;93;p1"/>
          <p:cNvSpPr txBox="1">
            <a:spLocks noGrp="1"/>
          </p:cNvSpPr>
          <p:nvPr>
            <p:ph type="ftr" idx="11"/>
          </p:nvPr>
        </p:nvSpPr>
        <p:spPr>
          <a:xfrm>
            <a:off x="3863752" y="6356350"/>
            <a:ext cx="5184576" cy="365125"/>
          </a:xfrm>
          <a:prstGeom prst="rect">
            <a:avLst/>
          </a:prstGeom>
          <a:noFill/>
          <a:ln>
            <a:noFill/>
          </a:ln>
        </p:spPr>
        <p:txBody>
          <a:bodyPr spcFirstLastPara="1" wrap="square" lIns="91425" tIns="45700" rIns="91425" bIns="45700" anchor="ctr" anchorCtr="0">
            <a:noAutofit/>
          </a:bodyPr>
          <a:lstStyle/>
          <a:p>
            <a:pPr lvl="0"/>
            <a:r>
              <a:rPr lang="en-US" dirty="0"/>
              <a:t>UCS24PJ51 </a:t>
            </a:r>
            <a:r>
              <a:rPr lang="en-US" dirty="0"/>
              <a:t>Project - </a:t>
            </a:r>
            <a:r>
              <a:rPr lang="en-US" dirty="0" smtClean="0"/>
              <a:t>First</a:t>
            </a:r>
            <a:r>
              <a:rPr lang="en-US" dirty="0" smtClean="0"/>
              <a:t> </a:t>
            </a:r>
            <a:r>
              <a:rPr lang="en-US" dirty="0"/>
              <a:t>Review Presentation </a:t>
            </a:r>
            <a:r>
              <a:rPr lang="en-US" dirty="0" smtClean="0"/>
              <a:t>2026- 2027</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9"/>
          <p:cNvSpPr txBox="1">
            <a:spLocks noGrp="1"/>
          </p:cNvSpPr>
          <p:nvPr>
            <p:ph type="title"/>
          </p:nvPr>
        </p:nvSpPr>
        <p:spPr>
          <a:xfrm>
            <a:off x="838200" y="2931784"/>
            <a:ext cx="10515600" cy="85725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Thank You !</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194" name="Google Shape;19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96" name="Google Shape;196;p9" descr="Thiagarajar College (@ThiagarajarArts) | Twitter"/>
          <p:cNvPicPr preferRelativeResize="0"/>
          <p:nvPr/>
        </p:nvPicPr>
        <p:blipFill rotWithShape="1">
          <a:blip r:embed="rId1"/>
          <a:srcRect/>
          <a:stretch>
            <a:fillRect/>
          </a:stretch>
        </p:blipFill>
        <p:spPr>
          <a:xfrm>
            <a:off x="5807968" y="0"/>
            <a:ext cx="494531" cy="515967"/>
          </a:xfrm>
          <a:prstGeom prst="rect">
            <a:avLst/>
          </a:prstGeom>
          <a:noFill/>
          <a:ln>
            <a:noFill/>
          </a:ln>
        </p:spPr>
      </p:pic>
      <p:sp>
        <p:nvSpPr>
          <p:cNvPr id="8" name="Google Shape;9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smtClean="0"/>
              <a:t>22/07/2026</a:t>
            </a:r>
            <a:endParaRPr dirty="0"/>
          </a:p>
        </p:txBody>
      </p:sp>
      <p:sp>
        <p:nvSpPr>
          <p:cNvPr id="9" name="Google Shape;93;p1"/>
          <p:cNvSpPr txBox="1">
            <a:spLocks noGrp="1"/>
          </p:cNvSpPr>
          <p:nvPr>
            <p:ph type="ftr" idx="11"/>
          </p:nvPr>
        </p:nvSpPr>
        <p:spPr>
          <a:xfrm>
            <a:off x="3863752" y="6356350"/>
            <a:ext cx="5184576" cy="365125"/>
          </a:xfrm>
          <a:prstGeom prst="rect">
            <a:avLst/>
          </a:prstGeom>
          <a:noFill/>
          <a:ln>
            <a:noFill/>
          </a:ln>
        </p:spPr>
        <p:txBody>
          <a:bodyPr spcFirstLastPara="1" wrap="square" lIns="91425" tIns="45700" rIns="91425" bIns="45700" anchor="ctr" anchorCtr="0">
            <a:noAutofit/>
          </a:bodyPr>
          <a:lstStyle/>
          <a:p>
            <a:pPr lvl="0"/>
            <a:r>
              <a:rPr lang="en-US" dirty="0"/>
              <a:t>UCS24PJ51 </a:t>
            </a:r>
            <a:r>
              <a:rPr lang="en-US" dirty="0"/>
              <a:t>Project - </a:t>
            </a:r>
            <a:r>
              <a:rPr lang="en-US" dirty="0" smtClean="0"/>
              <a:t>First</a:t>
            </a:r>
            <a:r>
              <a:rPr lang="en-US" dirty="0" smtClean="0"/>
              <a:t> </a:t>
            </a:r>
            <a:r>
              <a:rPr lang="en-US" dirty="0"/>
              <a:t>Review Presentation </a:t>
            </a:r>
            <a:r>
              <a:rPr lang="en-US" dirty="0" smtClean="0"/>
              <a:t>2026- 2027</a:t>
            </a:r>
            <a:endParaRPr dirty="0"/>
          </a:p>
        </p:txBody>
      </p:sp>
    </p:spTree>
  </p:cSld>
  <p:clrMapOvr>
    <a:masterClrMapping/>
  </p:clrMapOvr>
</p:sld>
</file>

<file path=ppt/tags/tag1.xml><?xml version="1.0" encoding="utf-8"?>
<p:tagLst xmlns:p="http://schemas.openxmlformats.org/presentationml/2006/main">
  <p:tag name="TABLE_ENDDRAG_ORIGIN_RECT" val="826*323"/>
  <p:tag name="TABLE_ENDDRAG_RECT" val="66*127*826*323"/>
</p:tagLst>
</file>

<file path=ppt/tags/tag2.xml><?xml version="1.0" encoding="utf-8"?>
<p:tagLst xmlns:p="http://schemas.openxmlformats.org/presentationml/2006/main">
  <p:tag name="TABLE_ENDDRAG_ORIGIN_RECT" val="828*372"/>
  <p:tag name="TABLE_ENDDRAG_RECT" val="75*106*828*372"/>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4023</Words>
  <Application>WPS Presentation</Application>
  <PresentationFormat>Widescreen</PresentationFormat>
  <Paragraphs>227</Paragraphs>
  <Slides>11</Slides>
  <Notes>10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SimSun</vt:lpstr>
      <vt:lpstr>Wingdings</vt:lpstr>
      <vt:lpstr>Arial</vt:lpstr>
      <vt:lpstr>Calibri</vt:lpstr>
      <vt:lpstr>Times New Roman</vt:lpstr>
      <vt:lpstr>Noto Sans Symbols</vt:lpstr>
      <vt:lpstr>Noto Sans</vt:lpstr>
      <vt:lpstr>Microsoft YaHei</vt:lpstr>
      <vt:lpstr>Arial Unicode MS</vt:lpstr>
      <vt:lpstr>Office Theme</vt:lpstr>
      <vt:lpstr>Title</vt:lpstr>
      <vt:lpstr>OVERVIEW</vt:lpstr>
      <vt:lpstr>ABSTRACT</vt:lpstr>
      <vt:lpstr>EXISTING SYSTEM </vt:lpstr>
      <vt:lpstr>PROPOSED SYSTEM </vt:lpstr>
      <vt:lpstr>PowerPoint 演示文稿</vt:lpstr>
      <vt:lpstr>PROPOSED SYSTEM ARCHITECTURE </vt:lpstr>
      <vt:lpstr>LIST OF MODULES</vt:lpstr>
      <vt:lpstr>RESULT COMPARISON / ANALYSIS</vt:lpstr>
      <vt:lpstr>CONCLUSION </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kesavan</dc:creator>
  <cp:lastModifiedBy>Malavika Vijayakumar</cp:lastModifiedBy>
  <cp:revision>5</cp:revision>
  <dcterms:created xsi:type="dcterms:W3CDTF">2021-09-27T21:50:00Z</dcterms:created>
  <dcterms:modified xsi:type="dcterms:W3CDTF">2026-07-26T01:24:08Z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D8F8546A204745DCBD0B040D62A8E6A6_13</vt:lpwstr>
  </property>
  <property fmtid="{D5CDD505-2E9C-101B-9397-08002B2CF9AE}" pid="3" name="KSOProductBuildVer">
    <vt:lpwstr>1033-12.1.0.27458</vt:lpwstr>
  </property>
</Properties>
</file>